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Fors Bold" charset="1" panose="020B0003030001020000"/>
      <p:regular r:id="rId16"/>
    </p:embeddedFont>
    <p:embeddedFont>
      <p:font typeface="TT Fors" charset="1" panose="020B000303000102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40.png" Type="http://schemas.openxmlformats.org/officeDocument/2006/relationships/image"/><Relationship Id="rId2" Target="../media/image15.png" Type="http://schemas.openxmlformats.org/officeDocument/2006/relationships/image"/><Relationship Id="rId20" Target="../media/image41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11" Target="../media/image52.png" Type="http://schemas.openxmlformats.org/officeDocument/2006/relationships/image"/><Relationship Id="rId12" Target="../media/image53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5.pn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media/image72.png" Type="http://schemas.openxmlformats.org/officeDocument/2006/relationships/image"/><Relationship Id="rId9" Target="../media/image7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8610" y="2598370"/>
            <a:ext cx="5855779" cy="5855779"/>
          </a:xfrm>
          <a:custGeom>
            <a:avLst/>
            <a:gdLst/>
            <a:ahLst/>
            <a:cxnLst/>
            <a:rect r="r" b="b" t="t" l="l"/>
            <a:pathLst>
              <a:path h="5855779" w="5855779">
                <a:moveTo>
                  <a:pt x="0" y="0"/>
                </a:moveTo>
                <a:lnTo>
                  <a:pt x="5855779" y="0"/>
                </a:lnTo>
                <a:lnTo>
                  <a:pt x="5855779" y="5855779"/>
                </a:lnTo>
                <a:lnTo>
                  <a:pt x="0" y="5855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-2742935" y="674860"/>
            <a:ext cx="12798869" cy="8937280"/>
            <a:chOff x="0" y="0"/>
            <a:chExt cx="660400" cy="4611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461149"/>
            </a:xfrm>
            <a:custGeom>
              <a:avLst/>
              <a:gdLst/>
              <a:ahLst/>
              <a:cxnLst/>
              <a:rect r="r" b="b" t="t" l="l"/>
              <a:pathLst>
                <a:path h="461149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0691"/>
                  </a:cubicBezTo>
                  <a:lnTo>
                    <a:pt x="660400" y="461149"/>
                  </a:lnTo>
                  <a:lnTo>
                    <a:pt x="0" y="461149"/>
                  </a:lnTo>
                  <a:lnTo>
                    <a:pt x="0" y="32079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666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60400" cy="372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8610" y="2312620"/>
            <a:ext cx="5855779" cy="58557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584389" y="11889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84389" y="1099966"/>
            <a:ext cx="1216244" cy="12162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197129" y="6351882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197129" y="6262859"/>
            <a:ext cx="1216244" cy="12162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197129" y="2810927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197129" y="2721904"/>
            <a:ext cx="1216244" cy="121624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584389" y="79707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584389" y="7881766"/>
            <a:ext cx="1216244" cy="121624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601661" y="4579890"/>
            <a:ext cx="1216244" cy="1216244"/>
          </a:xfrm>
          <a:custGeom>
            <a:avLst/>
            <a:gdLst/>
            <a:ahLst/>
            <a:cxnLst/>
            <a:rect r="r" b="b" t="t" l="l"/>
            <a:pathLst>
              <a:path h="1216244" w="1216244">
                <a:moveTo>
                  <a:pt x="0" y="0"/>
                </a:moveTo>
                <a:lnTo>
                  <a:pt x="1216244" y="0"/>
                </a:lnTo>
                <a:lnTo>
                  <a:pt x="1216244" y="1216244"/>
                </a:lnTo>
                <a:lnTo>
                  <a:pt x="0" y="1216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601661" y="4490866"/>
            <a:ext cx="1216244" cy="121624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976824" y="1448022"/>
            <a:ext cx="431374" cy="517391"/>
          </a:xfrm>
          <a:custGeom>
            <a:avLst/>
            <a:gdLst/>
            <a:ahLst/>
            <a:cxnLst/>
            <a:rect r="r" b="b" t="t" l="l"/>
            <a:pathLst>
              <a:path h="517391" w="431374">
                <a:moveTo>
                  <a:pt x="0" y="0"/>
                </a:moveTo>
                <a:lnTo>
                  <a:pt x="431374" y="0"/>
                </a:lnTo>
                <a:lnTo>
                  <a:pt x="431374" y="517391"/>
                </a:lnTo>
                <a:lnTo>
                  <a:pt x="0" y="517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939259" y="8232019"/>
            <a:ext cx="515739" cy="515739"/>
          </a:xfrm>
          <a:custGeom>
            <a:avLst/>
            <a:gdLst/>
            <a:ahLst/>
            <a:cxnLst/>
            <a:rect r="r" b="b" t="t" l="l"/>
            <a:pathLst>
              <a:path h="515739" w="515739">
                <a:moveTo>
                  <a:pt x="0" y="0"/>
                </a:moveTo>
                <a:lnTo>
                  <a:pt x="515740" y="0"/>
                </a:lnTo>
                <a:lnTo>
                  <a:pt x="515740" y="515739"/>
                </a:lnTo>
                <a:lnTo>
                  <a:pt x="0" y="515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505196" y="6570925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505196" y="3074482"/>
            <a:ext cx="600110" cy="600110"/>
          </a:xfrm>
          <a:custGeom>
            <a:avLst/>
            <a:gdLst/>
            <a:ahLst/>
            <a:cxnLst/>
            <a:rect r="r" b="b" t="t" l="l"/>
            <a:pathLst>
              <a:path h="600110" w="600110">
                <a:moveTo>
                  <a:pt x="0" y="0"/>
                </a:moveTo>
                <a:lnTo>
                  <a:pt x="600110" y="0"/>
                </a:lnTo>
                <a:lnTo>
                  <a:pt x="600110" y="600111"/>
                </a:lnTo>
                <a:lnTo>
                  <a:pt x="0" y="600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949354" y="4825984"/>
            <a:ext cx="520857" cy="543267"/>
          </a:xfrm>
          <a:custGeom>
            <a:avLst/>
            <a:gdLst/>
            <a:ahLst/>
            <a:cxnLst/>
            <a:rect r="r" b="b" t="t" l="l"/>
            <a:pathLst>
              <a:path h="543267" w="520857">
                <a:moveTo>
                  <a:pt x="0" y="0"/>
                </a:moveTo>
                <a:lnTo>
                  <a:pt x="520858" y="0"/>
                </a:lnTo>
                <a:lnTo>
                  <a:pt x="520858" y="543267"/>
                </a:lnTo>
                <a:lnTo>
                  <a:pt x="0" y="543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701922" y="3953520"/>
            <a:ext cx="3909154" cy="15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Feature Evaluation Stages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89031" y="5724380"/>
            <a:ext cx="333493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our levels to measure product features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5489" y="13669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65489" y="81487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13373" y="2988910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13373" y="6547181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17905" y="4757873"/>
            <a:ext cx="1409248" cy="71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b="true" sz="5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60290" y="1643965"/>
            <a:ext cx="524888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heck if the feature covers essential needs and meets minimum requirements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60290" y="8425765"/>
            <a:ext cx="524888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Id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entify premium features delivering maximum benefit and overall impact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08174" y="3265903"/>
            <a:ext cx="524888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Evalu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ate consistency, reliability, and stability across repeated and long-term use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08174" y="6824174"/>
            <a:ext cx="524888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easure additional functions that extend flexibility and depth.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712706" y="5034865"/>
            <a:ext cx="524888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Ass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ess day-to-day usefulness and how it improves normal activities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60290" y="1273150"/>
            <a:ext cx="52488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Basic Fit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60290" y="8054950"/>
            <a:ext cx="524888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Peak Value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08174" y="2895088"/>
            <a:ext cx="524888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Standard Quality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308174" y="6453359"/>
            <a:ext cx="524888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Advanced Use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712706" y="4664050"/>
            <a:ext cx="524888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Practical Value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9809" y="1330610"/>
            <a:ext cx="7891438" cy="7644830"/>
          </a:xfrm>
          <a:custGeom>
            <a:avLst/>
            <a:gdLst/>
            <a:ahLst/>
            <a:cxnLst/>
            <a:rect r="r" b="b" t="t" l="l"/>
            <a:pathLst>
              <a:path h="7644830" w="7891438">
                <a:moveTo>
                  <a:pt x="7891438" y="0"/>
                </a:moveTo>
                <a:lnTo>
                  <a:pt x="0" y="0"/>
                </a:lnTo>
                <a:lnTo>
                  <a:pt x="0" y="7644830"/>
                </a:lnTo>
                <a:lnTo>
                  <a:pt x="7891438" y="7644830"/>
                </a:lnTo>
                <a:lnTo>
                  <a:pt x="78914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45238" y="3068918"/>
            <a:ext cx="6072282" cy="1203416"/>
          </a:xfrm>
          <a:custGeom>
            <a:avLst/>
            <a:gdLst/>
            <a:ahLst/>
            <a:cxnLst/>
            <a:rect r="r" b="b" t="t" l="l"/>
            <a:pathLst>
              <a:path h="1203416" w="6072282">
                <a:moveTo>
                  <a:pt x="0" y="0"/>
                </a:moveTo>
                <a:lnTo>
                  <a:pt x="6072282" y="0"/>
                </a:lnTo>
                <a:lnTo>
                  <a:pt x="6072282" y="1203416"/>
                </a:lnTo>
                <a:lnTo>
                  <a:pt x="0" y="1203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5238" y="4702084"/>
            <a:ext cx="6072282" cy="1203416"/>
          </a:xfrm>
          <a:custGeom>
            <a:avLst/>
            <a:gdLst/>
            <a:ahLst/>
            <a:cxnLst/>
            <a:rect r="r" b="b" t="t" l="l"/>
            <a:pathLst>
              <a:path h="1203416" w="6072282">
                <a:moveTo>
                  <a:pt x="0" y="0"/>
                </a:moveTo>
                <a:lnTo>
                  <a:pt x="6072282" y="0"/>
                </a:lnTo>
                <a:lnTo>
                  <a:pt x="6072282" y="1203416"/>
                </a:lnTo>
                <a:lnTo>
                  <a:pt x="0" y="1203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913103" y="2678645"/>
            <a:ext cx="6536552" cy="1154304"/>
            <a:chOff x="0" y="0"/>
            <a:chExt cx="1721561" cy="304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1561" cy="304014"/>
            </a:xfrm>
            <a:custGeom>
              <a:avLst/>
              <a:gdLst/>
              <a:ahLst/>
              <a:cxnLst/>
              <a:rect r="r" b="b" t="t" l="l"/>
              <a:pathLst>
                <a:path h="304014" w="1721561">
                  <a:moveTo>
                    <a:pt x="20135" y="0"/>
                  </a:moveTo>
                  <a:lnTo>
                    <a:pt x="1701426" y="0"/>
                  </a:lnTo>
                  <a:cubicBezTo>
                    <a:pt x="1712546" y="0"/>
                    <a:pt x="1721561" y="9015"/>
                    <a:pt x="1721561" y="20135"/>
                  </a:cubicBezTo>
                  <a:lnTo>
                    <a:pt x="1721561" y="283879"/>
                  </a:lnTo>
                  <a:cubicBezTo>
                    <a:pt x="1721561" y="295000"/>
                    <a:pt x="1712546" y="304014"/>
                    <a:pt x="1701426" y="304014"/>
                  </a:cubicBezTo>
                  <a:lnTo>
                    <a:pt x="20135" y="304014"/>
                  </a:lnTo>
                  <a:cubicBezTo>
                    <a:pt x="9015" y="304014"/>
                    <a:pt x="0" y="295000"/>
                    <a:pt x="0" y="283879"/>
                  </a:cubicBezTo>
                  <a:lnTo>
                    <a:pt x="0" y="20135"/>
                  </a:lnTo>
                  <a:cubicBezTo>
                    <a:pt x="0" y="9015"/>
                    <a:pt x="9015" y="0"/>
                    <a:pt x="20135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21561" cy="34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13103" y="4368254"/>
            <a:ext cx="6536552" cy="1154304"/>
            <a:chOff x="0" y="0"/>
            <a:chExt cx="1721561" cy="304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1561" cy="304014"/>
            </a:xfrm>
            <a:custGeom>
              <a:avLst/>
              <a:gdLst/>
              <a:ahLst/>
              <a:cxnLst/>
              <a:rect r="r" b="b" t="t" l="l"/>
              <a:pathLst>
                <a:path h="304014" w="1721561">
                  <a:moveTo>
                    <a:pt x="20135" y="0"/>
                  </a:moveTo>
                  <a:lnTo>
                    <a:pt x="1701426" y="0"/>
                  </a:lnTo>
                  <a:cubicBezTo>
                    <a:pt x="1712546" y="0"/>
                    <a:pt x="1721561" y="9015"/>
                    <a:pt x="1721561" y="20135"/>
                  </a:cubicBezTo>
                  <a:lnTo>
                    <a:pt x="1721561" y="283879"/>
                  </a:lnTo>
                  <a:cubicBezTo>
                    <a:pt x="1721561" y="295000"/>
                    <a:pt x="1712546" y="304014"/>
                    <a:pt x="1701426" y="304014"/>
                  </a:cubicBezTo>
                  <a:lnTo>
                    <a:pt x="20135" y="304014"/>
                  </a:lnTo>
                  <a:cubicBezTo>
                    <a:pt x="9015" y="304014"/>
                    <a:pt x="0" y="295000"/>
                    <a:pt x="0" y="283879"/>
                  </a:cubicBezTo>
                  <a:lnTo>
                    <a:pt x="0" y="20135"/>
                  </a:lnTo>
                  <a:cubicBezTo>
                    <a:pt x="0" y="9015"/>
                    <a:pt x="9015" y="0"/>
                    <a:pt x="20135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21561" cy="34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45238" y="2503096"/>
            <a:ext cx="6072282" cy="1505402"/>
            <a:chOff x="0" y="0"/>
            <a:chExt cx="1599284" cy="3964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99284" cy="396484"/>
            </a:xfrm>
            <a:custGeom>
              <a:avLst/>
              <a:gdLst/>
              <a:ahLst/>
              <a:cxnLst/>
              <a:rect r="r" b="b" t="t" l="l"/>
              <a:pathLst>
                <a:path h="396484" w="1599284">
                  <a:moveTo>
                    <a:pt x="24224" y="0"/>
                  </a:moveTo>
                  <a:lnTo>
                    <a:pt x="1575060" y="0"/>
                  </a:lnTo>
                  <a:cubicBezTo>
                    <a:pt x="1581484" y="0"/>
                    <a:pt x="1587646" y="2552"/>
                    <a:pt x="1592189" y="7095"/>
                  </a:cubicBezTo>
                  <a:cubicBezTo>
                    <a:pt x="1596732" y="11638"/>
                    <a:pt x="1599284" y="17800"/>
                    <a:pt x="1599284" y="24224"/>
                  </a:cubicBezTo>
                  <a:lnTo>
                    <a:pt x="1599284" y="372260"/>
                  </a:lnTo>
                  <a:cubicBezTo>
                    <a:pt x="1599284" y="378685"/>
                    <a:pt x="1596732" y="384846"/>
                    <a:pt x="1592189" y="389389"/>
                  </a:cubicBezTo>
                  <a:cubicBezTo>
                    <a:pt x="1587646" y="393932"/>
                    <a:pt x="1581484" y="396484"/>
                    <a:pt x="1575060" y="396484"/>
                  </a:cubicBezTo>
                  <a:lnTo>
                    <a:pt x="24224" y="396484"/>
                  </a:lnTo>
                  <a:cubicBezTo>
                    <a:pt x="17800" y="396484"/>
                    <a:pt x="11638" y="393932"/>
                    <a:pt x="7095" y="389389"/>
                  </a:cubicBezTo>
                  <a:cubicBezTo>
                    <a:pt x="2552" y="384846"/>
                    <a:pt x="0" y="378685"/>
                    <a:pt x="0" y="372260"/>
                  </a:cubicBezTo>
                  <a:lnTo>
                    <a:pt x="0" y="24224"/>
                  </a:lnTo>
                  <a:cubicBezTo>
                    <a:pt x="0" y="17800"/>
                    <a:pt x="2552" y="11638"/>
                    <a:pt x="7095" y="7095"/>
                  </a:cubicBezTo>
                  <a:cubicBezTo>
                    <a:pt x="11638" y="2552"/>
                    <a:pt x="17800" y="0"/>
                    <a:pt x="242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99284" cy="43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45238" y="4192705"/>
            <a:ext cx="6072282" cy="1505402"/>
            <a:chOff x="0" y="0"/>
            <a:chExt cx="1599284" cy="3964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9284" cy="396484"/>
            </a:xfrm>
            <a:custGeom>
              <a:avLst/>
              <a:gdLst/>
              <a:ahLst/>
              <a:cxnLst/>
              <a:rect r="r" b="b" t="t" l="l"/>
              <a:pathLst>
                <a:path h="396484" w="1599284">
                  <a:moveTo>
                    <a:pt x="24224" y="0"/>
                  </a:moveTo>
                  <a:lnTo>
                    <a:pt x="1575060" y="0"/>
                  </a:lnTo>
                  <a:cubicBezTo>
                    <a:pt x="1581484" y="0"/>
                    <a:pt x="1587646" y="2552"/>
                    <a:pt x="1592189" y="7095"/>
                  </a:cubicBezTo>
                  <a:cubicBezTo>
                    <a:pt x="1596732" y="11638"/>
                    <a:pt x="1599284" y="17800"/>
                    <a:pt x="1599284" y="24224"/>
                  </a:cubicBezTo>
                  <a:lnTo>
                    <a:pt x="1599284" y="372260"/>
                  </a:lnTo>
                  <a:cubicBezTo>
                    <a:pt x="1599284" y="378685"/>
                    <a:pt x="1596732" y="384846"/>
                    <a:pt x="1592189" y="389389"/>
                  </a:cubicBezTo>
                  <a:cubicBezTo>
                    <a:pt x="1587646" y="393932"/>
                    <a:pt x="1581484" y="396484"/>
                    <a:pt x="1575060" y="396484"/>
                  </a:cubicBezTo>
                  <a:lnTo>
                    <a:pt x="24224" y="396484"/>
                  </a:lnTo>
                  <a:cubicBezTo>
                    <a:pt x="17800" y="396484"/>
                    <a:pt x="11638" y="393932"/>
                    <a:pt x="7095" y="389389"/>
                  </a:cubicBezTo>
                  <a:cubicBezTo>
                    <a:pt x="2552" y="384846"/>
                    <a:pt x="0" y="378685"/>
                    <a:pt x="0" y="372260"/>
                  </a:cubicBezTo>
                  <a:lnTo>
                    <a:pt x="0" y="24224"/>
                  </a:lnTo>
                  <a:cubicBezTo>
                    <a:pt x="0" y="17800"/>
                    <a:pt x="2552" y="11638"/>
                    <a:pt x="7095" y="7095"/>
                  </a:cubicBezTo>
                  <a:cubicBezTo>
                    <a:pt x="11638" y="2552"/>
                    <a:pt x="17800" y="0"/>
                    <a:pt x="242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99284" cy="43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145238" y="6397534"/>
            <a:ext cx="6072282" cy="1203416"/>
          </a:xfrm>
          <a:custGeom>
            <a:avLst/>
            <a:gdLst/>
            <a:ahLst/>
            <a:cxnLst/>
            <a:rect r="r" b="b" t="t" l="l"/>
            <a:pathLst>
              <a:path h="1203416" w="6072282">
                <a:moveTo>
                  <a:pt x="0" y="0"/>
                </a:moveTo>
                <a:lnTo>
                  <a:pt x="6072282" y="0"/>
                </a:lnTo>
                <a:lnTo>
                  <a:pt x="6072282" y="1203416"/>
                </a:lnTo>
                <a:lnTo>
                  <a:pt x="0" y="1203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45238" y="8081591"/>
            <a:ext cx="6072282" cy="1203416"/>
          </a:xfrm>
          <a:custGeom>
            <a:avLst/>
            <a:gdLst/>
            <a:ahLst/>
            <a:cxnLst/>
            <a:rect r="r" b="b" t="t" l="l"/>
            <a:pathLst>
              <a:path h="1203416" w="6072282">
                <a:moveTo>
                  <a:pt x="0" y="0"/>
                </a:moveTo>
                <a:lnTo>
                  <a:pt x="6072282" y="0"/>
                </a:lnTo>
                <a:lnTo>
                  <a:pt x="6072282" y="1203416"/>
                </a:lnTo>
                <a:lnTo>
                  <a:pt x="0" y="1203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913103" y="6057863"/>
            <a:ext cx="6536552" cy="1154304"/>
            <a:chOff x="0" y="0"/>
            <a:chExt cx="1721561" cy="3040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1561" cy="304014"/>
            </a:xfrm>
            <a:custGeom>
              <a:avLst/>
              <a:gdLst/>
              <a:ahLst/>
              <a:cxnLst/>
              <a:rect r="r" b="b" t="t" l="l"/>
              <a:pathLst>
                <a:path h="304014" w="1721561">
                  <a:moveTo>
                    <a:pt x="20135" y="0"/>
                  </a:moveTo>
                  <a:lnTo>
                    <a:pt x="1701426" y="0"/>
                  </a:lnTo>
                  <a:cubicBezTo>
                    <a:pt x="1712546" y="0"/>
                    <a:pt x="1721561" y="9015"/>
                    <a:pt x="1721561" y="20135"/>
                  </a:cubicBezTo>
                  <a:lnTo>
                    <a:pt x="1721561" y="283879"/>
                  </a:lnTo>
                  <a:cubicBezTo>
                    <a:pt x="1721561" y="295000"/>
                    <a:pt x="1712546" y="304014"/>
                    <a:pt x="1701426" y="304014"/>
                  </a:cubicBezTo>
                  <a:lnTo>
                    <a:pt x="20135" y="304014"/>
                  </a:lnTo>
                  <a:cubicBezTo>
                    <a:pt x="9015" y="304014"/>
                    <a:pt x="0" y="295000"/>
                    <a:pt x="0" y="283879"/>
                  </a:cubicBezTo>
                  <a:lnTo>
                    <a:pt x="0" y="20135"/>
                  </a:lnTo>
                  <a:cubicBezTo>
                    <a:pt x="0" y="9015"/>
                    <a:pt x="9015" y="0"/>
                    <a:pt x="20135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21561" cy="34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45238" y="5882314"/>
            <a:ext cx="6072282" cy="1505402"/>
            <a:chOff x="0" y="0"/>
            <a:chExt cx="1599284" cy="3964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99284" cy="396484"/>
            </a:xfrm>
            <a:custGeom>
              <a:avLst/>
              <a:gdLst/>
              <a:ahLst/>
              <a:cxnLst/>
              <a:rect r="r" b="b" t="t" l="l"/>
              <a:pathLst>
                <a:path h="396484" w="1599284">
                  <a:moveTo>
                    <a:pt x="24224" y="0"/>
                  </a:moveTo>
                  <a:lnTo>
                    <a:pt x="1575060" y="0"/>
                  </a:lnTo>
                  <a:cubicBezTo>
                    <a:pt x="1581484" y="0"/>
                    <a:pt x="1587646" y="2552"/>
                    <a:pt x="1592189" y="7095"/>
                  </a:cubicBezTo>
                  <a:cubicBezTo>
                    <a:pt x="1596732" y="11638"/>
                    <a:pt x="1599284" y="17800"/>
                    <a:pt x="1599284" y="24224"/>
                  </a:cubicBezTo>
                  <a:lnTo>
                    <a:pt x="1599284" y="372260"/>
                  </a:lnTo>
                  <a:cubicBezTo>
                    <a:pt x="1599284" y="378685"/>
                    <a:pt x="1596732" y="384846"/>
                    <a:pt x="1592189" y="389389"/>
                  </a:cubicBezTo>
                  <a:cubicBezTo>
                    <a:pt x="1587646" y="393932"/>
                    <a:pt x="1581484" y="396484"/>
                    <a:pt x="1575060" y="396484"/>
                  </a:cubicBezTo>
                  <a:lnTo>
                    <a:pt x="24224" y="396484"/>
                  </a:lnTo>
                  <a:cubicBezTo>
                    <a:pt x="17800" y="396484"/>
                    <a:pt x="11638" y="393932"/>
                    <a:pt x="7095" y="389389"/>
                  </a:cubicBezTo>
                  <a:cubicBezTo>
                    <a:pt x="2552" y="384846"/>
                    <a:pt x="0" y="378685"/>
                    <a:pt x="0" y="372260"/>
                  </a:cubicBezTo>
                  <a:lnTo>
                    <a:pt x="0" y="24224"/>
                  </a:lnTo>
                  <a:cubicBezTo>
                    <a:pt x="0" y="17800"/>
                    <a:pt x="2552" y="11638"/>
                    <a:pt x="7095" y="7095"/>
                  </a:cubicBezTo>
                  <a:cubicBezTo>
                    <a:pt x="11638" y="2552"/>
                    <a:pt x="17800" y="0"/>
                    <a:pt x="242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99284" cy="43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13103" y="7747472"/>
            <a:ext cx="6536552" cy="1154304"/>
            <a:chOff x="0" y="0"/>
            <a:chExt cx="1721561" cy="3040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21561" cy="304014"/>
            </a:xfrm>
            <a:custGeom>
              <a:avLst/>
              <a:gdLst/>
              <a:ahLst/>
              <a:cxnLst/>
              <a:rect r="r" b="b" t="t" l="l"/>
              <a:pathLst>
                <a:path h="304014" w="1721561">
                  <a:moveTo>
                    <a:pt x="20135" y="0"/>
                  </a:moveTo>
                  <a:lnTo>
                    <a:pt x="1701426" y="0"/>
                  </a:lnTo>
                  <a:cubicBezTo>
                    <a:pt x="1712546" y="0"/>
                    <a:pt x="1721561" y="9015"/>
                    <a:pt x="1721561" y="20135"/>
                  </a:cubicBezTo>
                  <a:lnTo>
                    <a:pt x="1721561" y="283879"/>
                  </a:lnTo>
                  <a:cubicBezTo>
                    <a:pt x="1721561" y="295000"/>
                    <a:pt x="1712546" y="304014"/>
                    <a:pt x="1701426" y="304014"/>
                  </a:cubicBezTo>
                  <a:lnTo>
                    <a:pt x="20135" y="304014"/>
                  </a:lnTo>
                  <a:cubicBezTo>
                    <a:pt x="9015" y="304014"/>
                    <a:pt x="0" y="295000"/>
                    <a:pt x="0" y="283879"/>
                  </a:cubicBezTo>
                  <a:lnTo>
                    <a:pt x="0" y="20135"/>
                  </a:lnTo>
                  <a:cubicBezTo>
                    <a:pt x="0" y="9015"/>
                    <a:pt x="9015" y="0"/>
                    <a:pt x="20135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21561" cy="34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45238" y="7571923"/>
            <a:ext cx="6072282" cy="1505402"/>
            <a:chOff x="0" y="0"/>
            <a:chExt cx="1599284" cy="3964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99284" cy="396484"/>
            </a:xfrm>
            <a:custGeom>
              <a:avLst/>
              <a:gdLst/>
              <a:ahLst/>
              <a:cxnLst/>
              <a:rect r="r" b="b" t="t" l="l"/>
              <a:pathLst>
                <a:path h="396484" w="1599284">
                  <a:moveTo>
                    <a:pt x="24224" y="0"/>
                  </a:moveTo>
                  <a:lnTo>
                    <a:pt x="1575060" y="0"/>
                  </a:lnTo>
                  <a:cubicBezTo>
                    <a:pt x="1581484" y="0"/>
                    <a:pt x="1587646" y="2552"/>
                    <a:pt x="1592189" y="7095"/>
                  </a:cubicBezTo>
                  <a:cubicBezTo>
                    <a:pt x="1596732" y="11638"/>
                    <a:pt x="1599284" y="17800"/>
                    <a:pt x="1599284" y="24224"/>
                  </a:cubicBezTo>
                  <a:lnTo>
                    <a:pt x="1599284" y="372260"/>
                  </a:lnTo>
                  <a:cubicBezTo>
                    <a:pt x="1599284" y="378685"/>
                    <a:pt x="1596732" y="384846"/>
                    <a:pt x="1592189" y="389389"/>
                  </a:cubicBezTo>
                  <a:cubicBezTo>
                    <a:pt x="1587646" y="393932"/>
                    <a:pt x="1581484" y="396484"/>
                    <a:pt x="1575060" y="396484"/>
                  </a:cubicBezTo>
                  <a:lnTo>
                    <a:pt x="24224" y="396484"/>
                  </a:lnTo>
                  <a:cubicBezTo>
                    <a:pt x="17800" y="396484"/>
                    <a:pt x="11638" y="393932"/>
                    <a:pt x="7095" y="389389"/>
                  </a:cubicBezTo>
                  <a:cubicBezTo>
                    <a:pt x="2552" y="384846"/>
                    <a:pt x="0" y="378685"/>
                    <a:pt x="0" y="372260"/>
                  </a:cubicBezTo>
                  <a:lnTo>
                    <a:pt x="0" y="24224"/>
                  </a:lnTo>
                  <a:cubicBezTo>
                    <a:pt x="0" y="17800"/>
                    <a:pt x="2552" y="11638"/>
                    <a:pt x="7095" y="7095"/>
                  </a:cubicBezTo>
                  <a:cubicBezTo>
                    <a:pt x="11638" y="2552"/>
                    <a:pt x="17800" y="0"/>
                    <a:pt x="242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599284" cy="434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490787" y="1830982"/>
            <a:ext cx="874675" cy="874675"/>
          </a:xfrm>
          <a:custGeom>
            <a:avLst/>
            <a:gdLst/>
            <a:ahLst/>
            <a:cxnLst/>
            <a:rect r="r" b="b" t="t" l="l"/>
            <a:pathLst>
              <a:path h="874675" w="874675">
                <a:moveTo>
                  <a:pt x="0" y="0"/>
                </a:moveTo>
                <a:lnTo>
                  <a:pt x="874675" y="0"/>
                </a:lnTo>
                <a:lnTo>
                  <a:pt x="874675" y="874675"/>
                </a:lnTo>
                <a:lnTo>
                  <a:pt x="0" y="8746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365777" y="3670626"/>
            <a:ext cx="1124695" cy="913815"/>
          </a:xfrm>
          <a:custGeom>
            <a:avLst/>
            <a:gdLst/>
            <a:ahLst/>
            <a:cxnLst/>
            <a:rect r="r" b="b" t="t" l="l"/>
            <a:pathLst>
              <a:path h="913815" w="1124695">
                <a:moveTo>
                  <a:pt x="0" y="0"/>
                </a:moveTo>
                <a:lnTo>
                  <a:pt x="1124695" y="0"/>
                </a:lnTo>
                <a:lnTo>
                  <a:pt x="1124695" y="913815"/>
                </a:lnTo>
                <a:lnTo>
                  <a:pt x="0" y="913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438041" y="5624966"/>
            <a:ext cx="980168" cy="980168"/>
          </a:xfrm>
          <a:custGeom>
            <a:avLst/>
            <a:gdLst/>
            <a:ahLst/>
            <a:cxnLst/>
            <a:rect r="r" b="b" t="t" l="l"/>
            <a:pathLst>
              <a:path h="980168" w="980168">
                <a:moveTo>
                  <a:pt x="0" y="0"/>
                </a:moveTo>
                <a:lnTo>
                  <a:pt x="980168" y="0"/>
                </a:lnTo>
                <a:lnTo>
                  <a:pt x="980168" y="980168"/>
                </a:lnTo>
                <a:lnTo>
                  <a:pt x="0" y="9801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567025" y="7567159"/>
            <a:ext cx="722199" cy="962932"/>
          </a:xfrm>
          <a:custGeom>
            <a:avLst/>
            <a:gdLst/>
            <a:ahLst/>
            <a:cxnLst/>
            <a:rect r="r" b="b" t="t" l="l"/>
            <a:pathLst>
              <a:path h="962932" w="722199">
                <a:moveTo>
                  <a:pt x="0" y="0"/>
                </a:moveTo>
                <a:lnTo>
                  <a:pt x="722199" y="0"/>
                </a:lnTo>
                <a:lnTo>
                  <a:pt x="722199" y="962932"/>
                </a:lnTo>
                <a:lnTo>
                  <a:pt x="0" y="9629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976541" y="962025"/>
            <a:ext cx="759145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Feat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ure Review 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76541" y="1624290"/>
            <a:ext cx="759145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our key stages to review product features clearly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7884" y="3112896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b="true" sz="30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7884" y="4267200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b="true" sz="30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7884" y="5659629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7884" y="6764036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b="true" sz="3000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34704" y="3099737"/>
            <a:ext cx="524888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elect the core requirements that guide feature evaluation across all product options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34704" y="4789346"/>
            <a:ext cx="524888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Gath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er reliable information on product specifications, usability, and performance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34704" y="2728922"/>
            <a:ext cx="52488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Identify Needs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634704" y="4418531"/>
            <a:ext cx="52488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Collect Data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34704" y="6478955"/>
            <a:ext cx="524888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ompare feature sets to measure how well each option meets expectations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34704" y="6108140"/>
            <a:ext cx="52488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Analyze Features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34704" y="8168565"/>
            <a:ext cx="5248889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ummarize strengths and weaknesses to support informed product selection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634704" y="7797749"/>
            <a:ext cx="52488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Draw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608" y="6640522"/>
            <a:ext cx="15408784" cy="3053741"/>
          </a:xfrm>
          <a:custGeom>
            <a:avLst/>
            <a:gdLst/>
            <a:ahLst/>
            <a:cxnLst/>
            <a:rect r="r" b="b" t="t" l="l"/>
            <a:pathLst>
              <a:path h="3053741" w="15408784">
                <a:moveTo>
                  <a:pt x="0" y="0"/>
                </a:moveTo>
                <a:lnTo>
                  <a:pt x="15408784" y="0"/>
                </a:lnTo>
                <a:lnTo>
                  <a:pt x="15408784" y="3053741"/>
                </a:lnTo>
                <a:lnTo>
                  <a:pt x="0" y="3053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39608" y="5476723"/>
            <a:ext cx="15408784" cy="3857777"/>
            <a:chOff x="0" y="0"/>
            <a:chExt cx="4058280" cy="1016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58281" cy="1016040"/>
            </a:xfrm>
            <a:custGeom>
              <a:avLst/>
              <a:gdLst/>
              <a:ahLst/>
              <a:cxnLst/>
              <a:rect r="r" b="b" t="t" l="l"/>
              <a:pathLst>
                <a:path h="1016040" w="4058281">
                  <a:moveTo>
                    <a:pt x="16580" y="0"/>
                  </a:moveTo>
                  <a:lnTo>
                    <a:pt x="4041700" y="0"/>
                  </a:lnTo>
                  <a:cubicBezTo>
                    <a:pt x="4050857" y="0"/>
                    <a:pt x="4058281" y="7423"/>
                    <a:pt x="4058281" y="16580"/>
                  </a:cubicBezTo>
                  <a:lnTo>
                    <a:pt x="4058281" y="999460"/>
                  </a:lnTo>
                  <a:cubicBezTo>
                    <a:pt x="4058281" y="1008617"/>
                    <a:pt x="4050857" y="1016040"/>
                    <a:pt x="4041700" y="1016040"/>
                  </a:cubicBezTo>
                  <a:lnTo>
                    <a:pt x="16580" y="1016040"/>
                  </a:lnTo>
                  <a:cubicBezTo>
                    <a:pt x="7423" y="1016040"/>
                    <a:pt x="0" y="1008617"/>
                    <a:pt x="0" y="999460"/>
                  </a:cubicBezTo>
                  <a:lnTo>
                    <a:pt x="0" y="16580"/>
                  </a:lnTo>
                  <a:cubicBezTo>
                    <a:pt x="0" y="7423"/>
                    <a:pt x="7423" y="0"/>
                    <a:pt x="165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58280" cy="1054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9608" y="4906346"/>
            <a:ext cx="3081757" cy="303677"/>
            <a:chOff x="0" y="0"/>
            <a:chExt cx="811656" cy="799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1656" cy="79981"/>
            </a:xfrm>
            <a:custGeom>
              <a:avLst/>
              <a:gdLst/>
              <a:ahLst/>
              <a:cxnLst/>
              <a:rect r="r" b="b" t="t" l="l"/>
              <a:pathLst>
                <a:path h="79981" w="811656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21365" y="4906346"/>
            <a:ext cx="3081757" cy="303677"/>
            <a:chOff x="0" y="0"/>
            <a:chExt cx="811656" cy="799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656" cy="79981"/>
            </a:xfrm>
            <a:custGeom>
              <a:avLst/>
              <a:gdLst/>
              <a:ahLst/>
              <a:cxnLst/>
              <a:rect r="r" b="b" t="t" l="l"/>
              <a:pathLst>
                <a:path h="79981" w="811656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3122" y="4906346"/>
            <a:ext cx="3081757" cy="303677"/>
            <a:chOff x="0" y="0"/>
            <a:chExt cx="811656" cy="799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1656" cy="79981"/>
            </a:xfrm>
            <a:custGeom>
              <a:avLst/>
              <a:gdLst/>
              <a:ahLst/>
              <a:cxnLst/>
              <a:rect r="r" b="b" t="t" l="l"/>
              <a:pathLst>
                <a:path h="79981" w="811656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84878" y="4906346"/>
            <a:ext cx="3081757" cy="303677"/>
            <a:chOff x="0" y="0"/>
            <a:chExt cx="811656" cy="799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1656" cy="79981"/>
            </a:xfrm>
            <a:custGeom>
              <a:avLst/>
              <a:gdLst/>
              <a:ahLst/>
              <a:cxnLst/>
              <a:rect r="r" b="b" t="t" l="l"/>
              <a:pathLst>
                <a:path h="79981" w="811656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66635" y="4906346"/>
            <a:ext cx="3081757" cy="303677"/>
            <a:chOff x="0" y="0"/>
            <a:chExt cx="811656" cy="799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656" cy="79981"/>
            </a:xfrm>
            <a:custGeom>
              <a:avLst/>
              <a:gdLst/>
              <a:ahLst/>
              <a:cxnLst/>
              <a:rect r="r" b="b" t="t" l="l"/>
              <a:pathLst>
                <a:path h="79981" w="811656">
                  <a:moveTo>
                    <a:pt x="39990" y="0"/>
                  </a:moveTo>
                  <a:lnTo>
                    <a:pt x="771666" y="0"/>
                  </a:lnTo>
                  <a:cubicBezTo>
                    <a:pt x="793752" y="0"/>
                    <a:pt x="811656" y="17904"/>
                    <a:pt x="811656" y="39990"/>
                  </a:cubicBezTo>
                  <a:lnTo>
                    <a:pt x="811656" y="39990"/>
                  </a:lnTo>
                  <a:cubicBezTo>
                    <a:pt x="811656" y="62076"/>
                    <a:pt x="793752" y="79981"/>
                    <a:pt x="771666" y="79981"/>
                  </a:cubicBezTo>
                  <a:lnTo>
                    <a:pt x="39990" y="79981"/>
                  </a:lnTo>
                  <a:cubicBezTo>
                    <a:pt x="17904" y="79981"/>
                    <a:pt x="0" y="62076"/>
                    <a:pt x="0" y="39990"/>
                  </a:cubicBezTo>
                  <a:lnTo>
                    <a:pt x="0" y="39990"/>
                  </a:lnTo>
                  <a:cubicBezTo>
                    <a:pt x="0" y="17904"/>
                    <a:pt x="17904" y="0"/>
                    <a:pt x="39990" y="0"/>
                  </a:cubicBez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1656" cy="118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94925" y="4831745"/>
            <a:ext cx="452880" cy="45288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2235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376682" y="4831745"/>
            <a:ext cx="452880" cy="45288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3D629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58438" y="4831745"/>
            <a:ext cx="452880" cy="45288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BEC8D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540195" y="4831745"/>
            <a:ext cx="452880" cy="45288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68D55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395512" y="4831745"/>
            <a:ext cx="452880" cy="45288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E8DED6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2053092" y="2667000"/>
            <a:ext cx="1799028" cy="2020434"/>
          </a:xfrm>
          <a:custGeom>
            <a:avLst/>
            <a:gdLst/>
            <a:ahLst/>
            <a:cxnLst/>
            <a:rect r="r" b="b" t="t" l="l"/>
            <a:pathLst>
              <a:path h="2020434" w="1799028">
                <a:moveTo>
                  <a:pt x="0" y="0"/>
                </a:moveTo>
                <a:lnTo>
                  <a:pt x="1799029" y="0"/>
                </a:lnTo>
                <a:lnTo>
                  <a:pt x="1799029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162729" y="2667000"/>
            <a:ext cx="1799028" cy="2020434"/>
          </a:xfrm>
          <a:custGeom>
            <a:avLst/>
            <a:gdLst/>
            <a:ahLst/>
            <a:cxnLst/>
            <a:rect r="r" b="b" t="t" l="l"/>
            <a:pathLst>
              <a:path h="2020434" w="1799028">
                <a:moveTo>
                  <a:pt x="0" y="0"/>
                </a:moveTo>
                <a:lnTo>
                  <a:pt x="1799028" y="0"/>
                </a:lnTo>
                <a:lnTo>
                  <a:pt x="1799028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244486" y="2667000"/>
            <a:ext cx="1799028" cy="2020434"/>
          </a:xfrm>
          <a:custGeom>
            <a:avLst/>
            <a:gdLst/>
            <a:ahLst/>
            <a:cxnLst/>
            <a:rect r="r" b="b" t="t" l="l"/>
            <a:pathLst>
              <a:path h="2020434" w="1799028">
                <a:moveTo>
                  <a:pt x="0" y="0"/>
                </a:moveTo>
                <a:lnTo>
                  <a:pt x="1799028" y="0"/>
                </a:lnTo>
                <a:lnTo>
                  <a:pt x="1799028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326243" y="2667000"/>
            <a:ext cx="1799028" cy="2020434"/>
          </a:xfrm>
          <a:custGeom>
            <a:avLst/>
            <a:gdLst/>
            <a:ahLst/>
            <a:cxnLst/>
            <a:rect r="r" b="b" t="t" l="l"/>
            <a:pathLst>
              <a:path h="2020434" w="1799028">
                <a:moveTo>
                  <a:pt x="0" y="0"/>
                </a:moveTo>
                <a:lnTo>
                  <a:pt x="1799028" y="0"/>
                </a:lnTo>
                <a:lnTo>
                  <a:pt x="1799028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407999" y="2667000"/>
            <a:ext cx="1799028" cy="2020434"/>
          </a:xfrm>
          <a:custGeom>
            <a:avLst/>
            <a:gdLst/>
            <a:ahLst/>
            <a:cxnLst/>
            <a:rect r="r" b="b" t="t" l="l"/>
            <a:pathLst>
              <a:path h="2020434" w="1799028">
                <a:moveTo>
                  <a:pt x="0" y="0"/>
                </a:moveTo>
                <a:lnTo>
                  <a:pt x="1799029" y="0"/>
                </a:lnTo>
                <a:lnTo>
                  <a:pt x="1799029" y="2020434"/>
                </a:lnTo>
                <a:lnTo>
                  <a:pt x="0" y="2020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1" id="41"/>
          <p:cNvSpPr/>
          <p:nvPr/>
        </p:nvSpPr>
        <p:spPr>
          <a:xfrm>
            <a:off x="4521365" y="5905500"/>
            <a:ext cx="0" cy="3018643"/>
          </a:xfrm>
          <a:prstGeom prst="line">
            <a:avLst/>
          </a:prstGeom>
          <a:ln cap="flat" w="38100">
            <a:solidFill>
              <a:srgbClr val="E9EC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7603122" y="5905500"/>
            <a:ext cx="0" cy="3018643"/>
          </a:xfrm>
          <a:prstGeom prst="line">
            <a:avLst/>
          </a:prstGeom>
          <a:ln cap="flat" w="38100">
            <a:solidFill>
              <a:srgbClr val="E9EC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0684878" y="5905500"/>
            <a:ext cx="0" cy="3018643"/>
          </a:xfrm>
          <a:prstGeom prst="line">
            <a:avLst/>
          </a:prstGeom>
          <a:ln cap="flat" w="38100">
            <a:solidFill>
              <a:srgbClr val="E9EC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13766635" y="5905500"/>
            <a:ext cx="0" cy="3018643"/>
          </a:xfrm>
          <a:prstGeom prst="line">
            <a:avLst/>
          </a:prstGeom>
          <a:ln cap="flat" w="38100">
            <a:solidFill>
              <a:srgbClr val="E9EC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2702131" y="3263380"/>
            <a:ext cx="556712" cy="556712"/>
          </a:xfrm>
          <a:custGeom>
            <a:avLst/>
            <a:gdLst/>
            <a:ahLst/>
            <a:cxnLst/>
            <a:rect r="r" b="b" t="t" l="l"/>
            <a:pathLst>
              <a:path h="556712" w="556712">
                <a:moveTo>
                  <a:pt x="0" y="0"/>
                </a:moveTo>
                <a:lnTo>
                  <a:pt x="556711" y="0"/>
                </a:lnTo>
                <a:lnTo>
                  <a:pt x="556711" y="556712"/>
                </a:lnTo>
                <a:lnTo>
                  <a:pt x="0" y="5567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803697" y="3201433"/>
            <a:ext cx="680606" cy="680606"/>
          </a:xfrm>
          <a:custGeom>
            <a:avLst/>
            <a:gdLst/>
            <a:ahLst/>
            <a:cxnLst/>
            <a:rect r="r" b="b" t="t" l="l"/>
            <a:pathLst>
              <a:path h="680606" w="680606">
                <a:moveTo>
                  <a:pt x="0" y="0"/>
                </a:moveTo>
                <a:lnTo>
                  <a:pt x="680606" y="0"/>
                </a:lnTo>
                <a:lnTo>
                  <a:pt x="680606" y="680606"/>
                </a:lnTo>
                <a:lnTo>
                  <a:pt x="0" y="6806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906250" y="3210958"/>
            <a:ext cx="639013" cy="639013"/>
          </a:xfrm>
          <a:custGeom>
            <a:avLst/>
            <a:gdLst/>
            <a:ahLst/>
            <a:cxnLst/>
            <a:rect r="r" b="b" t="t" l="l"/>
            <a:pathLst>
              <a:path h="639013" w="639013">
                <a:moveTo>
                  <a:pt x="0" y="0"/>
                </a:moveTo>
                <a:lnTo>
                  <a:pt x="639013" y="0"/>
                </a:lnTo>
                <a:lnTo>
                  <a:pt x="639013" y="639013"/>
                </a:lnTo>
                <a:lnTo>
                  <a:pt x="0" y="63901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974290" y="3215592"/>
            <a:ext cx="666447" cy="666447"/>
          </a:xfrm>
          <a:custGeom>
            <a:avLst/>
            <a:gdLst/>
            <a:ahLst/>
            <a:cxnLst/>
            <a:rect r="r" b="b" t="t" l="l"/>
            <a:pathLst>
              <a:path h="666447" w="666447">
                <a:moveTo>
                  <a:pt x="0" y="0"/>
                </a:moveTo>
                <a:lnTo>
                  <a:pt x="666447" y="0"/>
                </a:lnTo>
                <a:lnTo>
                  <a:pt x="666447" y="666447"/>
                </a:lnTo>
                <a:lnTo>
                  <a:pt x="0" y="66644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721940" y="3201433"/>
            <a:ext cx="680606" cy="680606"/>
          </a:xfrm>
          <a:custGeom>
            <a:avLst/>
            <a:gdLst/>
            <a:ahLst/>
            <a:cxnLst/>
            <a:rect r="r" b="b" t="t" l="l"/>
            <a:pathLst>
              <a:path h="680606" w="680606">
                <a:moveTo>
                  <a:pt x="0" y="0"/>
                </a:moveTo>
                <a:lnTo>
                  <a:pt x="680606" y="0"/>
                </a:lnTo>
                <a:lnTo>
                  <a:pt x="680606" y="680606"/>
                </a:lnTo>
                <a:lnTo>
                  <a:pt x="0" y="68060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4053312" y="981075"/>
            <a:ext cx="1018137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Feature Growth Path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053312" y="1738590"/>
            <a:ext cx="101813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Fiv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phases showing feature development over time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851901" y="7255510"/>
            <a:ext cx="2201410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Intr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oduce the product with basic functions designed to cover core use cases and essential needs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61538" y="7255510"/>
            <a:ext cx="2201410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Add n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ew supporting features to expand utility and provide more value for a wider range of users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851901" y="6815455"/>
            <a:ext cx="2201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Initial Launch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61538" y="6815455"/>
            <a:ext cx="2201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Early Upgrade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043295" y="7255510"/>
            <a:ext cx="2201410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Ap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ply improvements and refinements directly based on customer input and real-world experiences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043295" y="6815455"/>
            <a:ext cx="2201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User Feedback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125052" y="7255510"/>
            <a:ext cx="2201410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Delive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 more complex and specialized tools tailored for expert users and demanding scenarios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125052" y="6815455"/>
            <a:ext cx="2201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Advanced Stage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90367" y="7255510"/>
            <a:ext cx="2434293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utline upcoming features that are planned to expand capabilities and unlock greater long-term potential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206808" y="6815455"/>
            <a:ext cx="220141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Future Plan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218803" y="5990282"/>
            <a:ext cx="1467607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999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28440" y="5990282"/>
            <a:ext cx="1467607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999">
                <a:solidFill>
                  <a:srgbClr val="3E6398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438076" y="5990282"/>
            <a:ext cx="1467607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999">
                <a:solidFill>
                  <a:srgbClr val="BEC8DA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547713" y="5990282"/>
            <a:ext cx="1467607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999">
                <a:solidFill>
                  <a:srgbClr val="F68D56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657350" y="5990282"/>
            <a:ext cx="1467607" cy="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999">
                <a:solidFill>
                  <a:srgbClr val="E7DED6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450" y="0"/>
            <a:ext cx="2045299" cy="8299079"/>
            <a:chOff x="0" y="0"/>
            <a:chExt cx="1148238" cy="46591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8238" cy="4659132"/>
            </a:xfrm>
            <a:custGeom>
              <a:avLst/>
              <a:gdLst/>
              <a:ahLst/>
              <a:cxnLst/>
              <a:rect r="r" b="b" t="t" l="l"/>
              <a:pathLst>
                <a:path h="4659132" w="1148238">
                  <a:moveTo>
                    <a:pt x="574119" y="4659132"/>
                  </a:moveTo>
                  <a:lnTo>
                    <a:pt x="0" y="4252732"/>
                  </a:lnTo>
                  <a:lnTo>
                    <a:pt x="203200" y="4252732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4252732"/>
                  </a:lnTo>
                  <a:lnTo>
                    <a:pt x="1148238" y="4252732"/>
                  </a:lnTo>
                  <a:lnTo>
                    <a:pt x="574119" y="4659132"/>
                  </a:ln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03200" y="-38100"/>
              <a:ext cx="741838" cy="459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596850" y="0"/>
            <a:ext cx="2045299" cy="7367309"/>
            <a:chOff x="0" y="0"/>
            <a:chExt cx="1148238" cy="41360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8238" cy="4136033"/>
            </a:xfrm>
            <a:custGeom>
              <a:avLst/>
              <a:gdLst/>
              <a:ahLst/>
              <a:cxnLst/>
              <a:rect r="r" b="b" t="t" l="l"/>
              <a:pathLst>
                <a:path h="4136033" w="1148238">
                  <a:moveTo>
                    <a:pt x="574119" y="4136033"/>
                  </a:moveTo>
                  <a:lnTo>
                    <a:pt x="0" y="3729633"/>
                  </a:lnTo>
                  <a:lnTo>
                    <a:pt x="203200" y="3729633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3729633"/>
                  </a:lnTo>
                  <a:lnTo>
                    <a:pt x="1148238" y="3729633"/>
                  </a:lnTo>
                  <a:lnTo>
                    <a:pt x="574119" y="4136033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-38100"/>
              <a:ext cx="741838" cy="4072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36451" y="0"/>
            <a:ext cx="2045299" cy="6435539"/>
            <a:chOff x="0" y="0"/>
            <a:chExt cx="1148238" cy="36129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8238" cy="3612935"/>
            </a:xfrm>
            <a:custGeom>
              <a:avLst/>
              <a:gdLst/>
              <a:ahLst/>
              <a:cxnLst/>
              <a:rect r="r" b="b" t="t" l="l"/>
              <a:pathLst>
                <a:path h="3612935" w="1148238">
                  <a:moveTo>
                    <a:pt x="574119" y="3612935"/>
                  </a:moveTo>
                  <a:lnTo>
                    <a:pt x="0" y="3206534"/>
                  </a:lnTo>
                  <a:lnTo>
                    <a:pt x="203200" y="3206534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3206534"/>
                  </a:lnTo>
                  <a:lnTo>
                    <a:pt x="1148238" y="3206534"/>
                  </a:lnTo>
                  <a:lnTo>
                    <a:pt x="574119" y="3612935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03200" y="-38100"/>
              <a:ext cx="741838" cy="3549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54669" y="0"/>
            <a:ext cx="2045299" cy="5503770"/>
            <a:chOff x="0" y="0"/>
            <a:chExt cx="1148238" cy="30898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8238" cy="3089836"/>
            </a:xfrm>
            <a:custGeom>
              <a:avLst/>
              <a:gdLst/>
              <a:ahLst/>
              <a:cxnLst/>
              <a:rect r="r" b="b" t="t" l="l"/>
              <a:pathLst>
                <a:path h="3089836" w="1148238">
                  <a:moveTo>
                    <a:pt x="574119" y="3089836"/>
                  </a:moveTo>
                  <a:lnTo>
                    <a:pt x="0" y="2683436"/>
                  </a:lnTo>
                  <a:lnTo>
                    <a:pt x="203200" y="2683436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2683436"/>
                  </a:lnTo>
                  <a:lnTo>
                    <a:pt x="1148238" y="2683436"/>
                  </a:lnTo>
                  <a:lnTo>
                    <a:pt x="574119" y="3089836"/>
                  </a:ln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03200" y="-38100"/>
              <a:ext cx="741838" cy="3026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56170" y="0"/>
            <a:ext cx="2045299" cy="4572000"/>
            <a:chOff x="0" y="0"/>
            <a:chExt cx="1148238" cy="25667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8238" cy="2566737"/>
            </a:xfrm>
            <a:custGeom>
              <a:avLst/>
              <a:gdLst/>
              <a:ahLst/>
              <a:cxnLst/>
              <a:rect r="r" b="b" t="t" l="l"/>
              <a:pathLst>
                <a:path h="2566737" w="1148238">
                  <a:moveTo>
                    <a:pt x="574119" y="2566737"/>
                  </a:moveTo>
                  <a:lnTo>
                    <a:pt x="0" y="2160337"/>
                  </a:lnTo>
                  <a:lnTo>
                    <a:pt x="203200" y="2160337"/>
                  </a:lnTo>
                  <a:lnTo>
                    <a:pt x="203200" y="0"/>
                  </a:lnTo>
                  <a:lnTo>
                    <a:pt x="945038" y="0"/>
                  </a:lnTo>
                  <a:lnTo>
                    <a:pt x="945038" y="2160337"/>
                  </a:lnTo>
                  <a:lnTo>
                    <a:pt x="1148238" y="2160337"/>
                  </a:lnTo>
                  <a:lnTo>
                    <a:pt x="574119" y="2566737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203200" y="-38100"/>
              <a:ext cx="741838" cy="250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67100" y="8375675"/>
            <a:ext cx="157072" cy="892902"/>
            <a:chOff x="0" y="0"/>
            <a:chExt cx="41369" cy="2351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369" cy="235168"/>
            </a:xfrm>
            <a:custGeom>
              <a:avLst/>
              <a:gdLst/>
              <a:ahLst/>
              <a:cxnLst/>
              <a:rect r="r" b="b" t="t" l="l"/>
              <a:pathLst>
                <a:path h="235168" w="41369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E8DED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09215" y="7239767"/>
            <a:ext cx="157072" cy="892902"/>
            <a:chOff x="0" y="0"/>
            <a:chExt cx="41369" cy="235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369" cy="235168"/>
            </a:xfrm>
            <a:custGeom>
              <a:avLst/>
              <a:gdLst/>
              <a:ahLst/>
              <a:cxnLst/>
              <a:rect r="r" b="b" t="t" l="l"/>
              <a:pathLst>
                <a:path h="235168" w="41369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F68D55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51331" y="6103860"/>
            <a:ext cx="157072" cy="892902"/>
            <a:chOff x="0" y="0"/>
            <a:chExt cx="41369" cy="235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69" cy="235168"/>
            </a:xfrm>
            <a:custGeom>
              <a:avLst/>
              <a:gdLst/>
              <a:ahLst/>
              <a:cxnLst/>
              <a:rect r="r" b="b" t="t" l="l"/>
              <a:pathLst>
                <a:path h="235168" w="41369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93446" y="4967953"/>
            <a:ext cx="157072" cy="892902"/>
            <a:chOff x="0" y="0"/>
            <a:chExt cx="41369" cy="2351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369" cy="235168"/>
            </a:xfrm>
            <a:custGeom>
              <a:avLst/>
              <a:gdLst/>
              <a:ahLst/>
              <a:cxnLst/>
              <a:rect r="r" b="b" t="t" l="l"/>
              <a:pathLst>
                <a:path h="235168" w="41369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3C619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20148" y="3858232"/>
            <a:ext cx="157072" cy="892902"/>
            <a:chOff x="0" y="0"/>
            <a:chExt cx="41369" cy="2351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369" cy="235168"/>
            </a:xfrm>
            <a:custGeom>
              <a:avLst/>
              <a:gdLst/>
              <a:ahLst/>
              <a:cxnLst/>
              <a:rect r="r" b="b" t="t" l="l"/>
              <a:pathLst>
                <a:path h="235168" w="41369">
                  <a:moveTo>
                    <a:pt x="20684" y="0"/>
                  </a:moveTo>
                  <a:lnTo>
                    <a:pt x="20684" y="0"/>
                  </a:lnTo>
                  <a:cubicBezTo>
                    <a:pt x="26170" y="0"/>
                    <a:pt x="31431" y="2179"/>
                    <a:pt x="35310" y="6058"/>
                  </a:cubicBezTo>
                  <a:cubicBezTo>
                    <a:pt x="39189" y="9937"/>
                    <a:pt x="41369" y="15199"/>
                    <a:pt x="41369" y="20684"/>
                  </a:cubicBezTo>
                  <a:lnTo>
                    <a:pt x="41369" y="214483"/>
                  </a:lnTo>
                  <a:cubicBezTo>
                    <a:pt x="41369" y="225907"/>
                    <a:pt x="32108" y="235168"/>
                    <a:pt x="20684" y="235168"/>
                  </a:cubicBezTo>
                  <a:lnTo>
                    <a:pt x="20684" y="235168"/>
                  </a:lnTo>
                  <a:cubicBezTo>
                    <a:pt x="9261" y="235168"/>
                    <a:pt x="0" y="225907"/>
                    <a:pt x="0" y="214483"/>
                  </a:cubicBezTo>
                  <a:lnTo>
                    <a:pt x="0" y="20684"/>
                  </a:lnTo>
                  <a:cubicBezTo>
                    <a:pt x="0" y="9261"/>
                    <a:pt x="9261" y="0"/>
                    <a:pt x="20684" y="0"/>
                  </a:cubicBezTo>
                  <a:close/>
                </a:path>
              </a:pathLst>
            </a:custGeom>
            <a:solidFill>
              <a:srgbClr val="122359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1369" cy="27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44553" y="1045006"/>
            <a:ext cx="6414747" cy="6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Feat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ure Selection Stages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44553" y="1802520"/>
            <a:ext cx="5562248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ep-by-step process to identify the best product features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47629" y="8708390"/>
            <a:ext cx="508328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Selec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 the most effective combination of features that delivers the greatest benefit to users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47629" y="8337575"/>
            <a:ext cx="529574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Final Pick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68297" y="7582760"/>
            <a:ext cx="529574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Prioritiz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features that show the best balance between strong performance and overall cost efficiency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68297" y="7211944"/>
            <a:ext cx="529574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Value Rank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88966" y="6457129"/>
            <a:ext cx="508328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etain only the features that consistently meet the minimum quality standards and reliability tests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488966" y="6086314"/>
            <a:ext cx="529574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Quality Check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09635" y="5331499"/>
            <a:ext cx="529574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Exclud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features that fail to address the core user needs or essential product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09635" y="4960684"/>
            <a:ext cx="529574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Filter Basics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44553" y="4205869"/>
            <a:ext cx="508328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tart by listing every available feature to create a broad review of possibilities without limitation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44553" y="3835053"/>
            <a:ext cx="5295749" cy="30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All Options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86707" y="7052877"/>
            <a:ext cx="938785" cy="3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150108" y="6154071"/>
            <a:ext cx="938785" cy="3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889708" y="5255265"/>
            <a:ext cx="938785" cy="39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07927" y="4356458"/>
            <a:ext cx="938785" cy="3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09427" y="3461991"/>
            <a:ext cx="938785" cy="39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2190" y="3017738"/>
            <a:ext cx="1238171" cy="12381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29750" y="3017738"/>
            <a:ext cx="1238171" cy="123817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02190" y="5230400"/>
            <a:ext cx="1238171" cy="12381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29750" y="5230400"/>
            <a:ext cx="1238171" cy="123817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18779" y="7448086"/>
            <a:ext cx="1238171" cy="123817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46339" y="7448086"/>
            <a:ext cx="1238171" cy="123817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700" strike="noStrike" u="non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06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395869" y="3823252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023429" y="3823252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395869" y="6040938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023429" y="6040938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399015" y="2774549"/>
            <a:ext cx="4459235" cy="1714500"/>
            <a:chOff x="0" y="0"/>
            <a:chExt cx="1174449" cy="4515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4449" cy="451556"/>
            </a:xfrm>
            <a:custGeom>
              <a:avLst/>
              <a:gdLst/>
              <a:ahLst/>
              <a:cxnLst/>
              <a:rect r="r" b="b" t="t" l="l"/>
              <a:pathLst>
                <a:path h="451556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26574" y="2774549"/>
            <a:ext cx="4459235" cy="1714500"/>
            <a:chOff x="0" y="0"/>
            <a:chExt cx="1174449" cy="4515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4449" cy="451556"/>
            </a:xfrm>
            <a:custGeom>
              <a:avLst/>
              <a:gdLst/>
              <a:ahLst/>
              <a:cxnLst/>
              <a:rect r="r" b="b" t="t" l="l"/>
              <a:pathLst>
                <a:path h="451556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99015" y="4992235"/>
            <a:ext cx="4459235" cy="1714500"/>
            <a:chOff x="0" y="0"/>
            <a:chExt cx="1174449" cy="4515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74449" cy="451556"/>
            </a:xfrm>
            <a:custGeom>
              <a:avLst/>
              <a:gdLst/>
              <a:ahLst/>
              <a:cxnLst/>
              <a:rect r="r" b="b" t="t" l="l"/>
              <a:pathLst>
                <a:path h="451556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26574" y="4992235"/>
            <a:ext cx="4459235" cy="1714500"/>
            <a:chOff x="0" y="0"/>
            <a:chExt cx="1174449" cy="4515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74449" cy="451556"/>
            </a:xfrm>
            <a:custGeom>
              <a:avLst/>
              <a:gdLst/>
              <a:ahLst/>
              <a:cxnLst/>
              <a:rect r="r" b="b" t="t" l="l"/>
              <a:pathLst>
                <a:path h="451556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053312" y="981075"/>
            <a:ext cx="1018137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K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ey Comparison Points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53312" y="1738590"/>
            <a:ext cx="101813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Six c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riteria used to compare product features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74445" y="3529247"/>
            <a:ext cx="408380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V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erify the speed, efficiency, and stability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of each feature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02005" y="3529247"/>
            <a:ext cx="408380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onfirm compliance with safety rules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and reduce risks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74445" y="5746933"/>
            <a:ext cx="408380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Ass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ess long-term strength and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resistance to frequent use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402005" y="5746933"/>
            <a:ext cx="408380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eview environmental impact and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resource efficiency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774445" y="3146342"/>
            <a:ext cx="40838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Performance Test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402005" y="3146342"/>
            <a:ext cx="40838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Safety Standard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774445" y="5364028"/>
            <a:ext cx="40838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Durability Score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02005" y="5364028"/>
            <a:ext cx="40838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Sustainability Level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4395869" y="8258624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023429" y="8258624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399015" y="7209921"/>
            <a:ext cx="4459235" cy="1714500"/>
            <a:chOff x="0" y="0"/>
            <a:chExt cx="1174449" cy="4515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4449" cy="451556"/>
            </a:xfrm>
            <a:custGeom>
              <a:avLst/>
              <a:gdLst/>
              <a:ahLst/>
              <a:cxnLst/>
              <a:rect r="r" b="b" t="t" l="l"/>
              <a:pathLst>
                <a:path h="451556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026574" y="7209921"/>
            <a:ext cx="4459235" cy="1714500"/>
            <a:chOff x="0" y="0"/>
            <a:chExt cx="1174449" cy="4515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74449" cy="451556"/>
            </a:xfrm>
            <a:custGeom>
              <a:avLst/>
              <a:gdLst/>
              <a:ahLst/>
              <a:cxnLst/>
              <a:rect r="r" b="b" t="t" l="l"/>
              <a:pathLst>
                <a:path h="451556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16833"/>
                  </a:lnTo>
                  <a:cubicBezTo>
                    <a:pt x="1174449" y="426042"/>
                    <a:pt x="1170791" y="434874"/>
                    <a:pt x="1164279" y="441385"/>
                  </a:cubicBezTo>
                  <a:cubicBezTo>
                    <a:pt x="1157767" y="447897"/>
                    <a:pt x="1148935" y="451556"/>
                    <a:pt x="1139726" y="451556"/>
                  </a:cubicBezTo>
                  <a:lnTo>
                    <a:pt x="34723" y="451556"/>
                  </a:lnTo>
                  <a:cubicBezTo>
                    <a:pt x="25514" y="451556"/>
                    <a:pt x="16682" y="447897"/>
                    <a:pt x="10170" y="441385"/>
                  </a:cubicBezTo>
                  <a:cubicBezTo>
                    <a:pt x="3658" y="434874"/>
                    <a:pt x="0" y="426042"/>
                    <a:pt x="0" y="416833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174449" cy="48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4774445" y="7964619"/>
            <a:ext cx="408380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Ensu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 smooth integration with existing systems or tools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02005" y="7964619"/>
            <a:ext cx="4083805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eck ease of maintenance and availability of service help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774445" y="7581714"/>
            <a:ext cx="40838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Compatibility Check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402005" y="7581714"/>
            <a:ext cx="40838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Support Access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4291298" y="3527228"/>
            <a:ext cx="209142" cy="209142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918858" y="3527228"/>
            <a:ext cx="209142" cy="209142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291298" y="5744914"/>
            <a:ext cx="209142" cy="209142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918858" y="5744914"/>
            <a:ext cx="209142" cy="209142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291298" y="7962600"/>
            <a:ext cx="209142" cy="209142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918858" y="7962600"/>
            <a:ext cx="209142" cy="209142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6" id="76"/>
          <p:cNvSpPr/>
          <p:nvPr/>
        </p:nvSpPr>
        <p:spPr>
          <a:xfrm flipV="true">
            <a:off x="3040361" y="3631799"/>
            <a:ext cx="1250937" cy="5024"/>
          </a:xfrm>
          <a:prstGeom prst="line">
            <a:avLst/>
          </a:prstGeom>
          <a:ln cap="flat" w="38100">
            <a:solidFill>
              <a:srgbClr val="BEC8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V="true">
            <a:off x="10667921" y="3631799"/>
            <a:ext cx="1250937" cy="5024"/>
          </a:xfrm>
          <a:prstGeom prst="line">
            <a:avLst/>
          </a:prstGeom>
          <a:ln cap="flat" w="38100">
            <a:solidFill>
              <a:srgbClr val="BEC8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3040361" y="5849485"/>
            <a:ext cx="1250937" cy="0"/>
          </a:xfrm>
          <a:prstGeom prst="line">
            <a:avLst/>
          </a:prstGeom>
          <a:ln cap="flat" w="38100">
            <a:solidFill>
              <a:srgbClr val="BEC8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V="true">
            <a:off x="10667921" y="5849485"/>
            <a:ext cx="1250937" cy="0"/>
          </a:xfrm>
          <a:prstGeom prst="line">
            <a:avLst/>
          </a:prstGeom>
          <a:ln cap="flat" w="38100">
            <a:solidFill>
              <a:srgbClr val="BEC8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3056950" y="8067171"/>
            <a:ext cx="1234348" cy="0"/>
          </a:xfrm>
          <a:prstGeom prst="line">
            <a:avLst/>
          </a:prstGeom>
          <a:ln cap="flat" w="38100">
            <a:solidFill>
              <a:srgbClr val="BEC8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10684509" y="8067171"/>
            <a:ext cx="1234348" cy="0"/>
          </a:xfrm>
          <a:prstGeom prst="line">
            <a:avLst/>
          </a:prstGeom>
          <a:ln cap="flat" w="38100">
            <a:solidFill>
              <a:srgbClr val="BEC8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2" id="82"/>
          <p:cNvGrpSpPr/>
          <p:nvPr/>
        </p:nvGrpSpPr>
        <p:grpSpPr>
          <a:xfrm rot="0">
            <a:off x="3466416" y="2476500"/>
            <a:ext cx="361099" cy="2610091"/>
            <a:chOff x="0" y="0"/>
            <a:chExt cx="95104" cy="6874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104" cy="687431"/>
            </a:xfrm>
            <a:custGeom>
              <a:avLst/>
              <a:gdLst/>
              <a:ahLst/>
              <a:cxnLst/>
              <a:rect r="r" b="b" t="t" l="l"/>
              <a:pathLst>
                <a:path h="687431" w="9510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39879"/>
                  </a:lnTo>
                  <a:cubicBezTo>
                    <a:pt x="95104" y="666142"/>
                    <a:pt x="73814" y="687431"/>
                    <a:pt x="47552" y="687431"/>
                  </a:cubicBezTo>
                  <a:lnTo>
                    <a:pt x="47552" y="687431"/>
                  </a:lnTo>
                  <a:cubicBezTo>
                    <a:pt x="21290" y="687431"/>
                    <a:pt x="0" y="666142"/>
                    <a:pt x="0" y="639879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5104" cy="725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093976" y="2476500"/>
            <a:ext cx="361099" cy="2610091"/>
            <a:chOff x="0" y="0"/>
            <a:chExt cx="95104" cy="6874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5104" cy="687431"/>
            </a:xfrm>
            <a:custGeom>
              <a:avLst/>
              <a:gdLst/>
              <a:ahLst/>
              <a:cxnLst/>
              <a:rect r="r" b="b" t="t" l="l"/>
              <a:pathLst>
                <a:path h="687431" w="9510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39879"/>
                  </a:lnTo>
                  <a:cubicBezTo>
                    <a:pt x="95104" y="666142"/>
                    <a:pt x="73814" y="687431"/>
                    <a:pt x="47552" y="687431"/>
                  </a:cubicBezTo>
                  <a:lnTo>
                    <a:pt x="47552" y="687431"/>
                  </a:lnTo>
                  <a:cubicBezTo>
                    <a:pt x="21290" y="687431"/>
                    <a:pt x="0" y="666142"/>
                    <a:pt x="0" y="639879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5104" cy="725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466416" y="4707615"/>
            <a:ext cx="361099" cy="2502306"/>
            <a:chOff x="0" y="0"/>
            <a:chExt cx="95104" cy="65904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5104" cy="659044"/>
            </a:xfrm>
            <a:custGeom>
              <a:avLst/>
              <a:gdLst/>
              <a:ahLst/>
              <a:cxnLst/>
              <a:rect r="r" b="b" t="t" l="l"/>
              <a:pathLst>
                <a:path h="659044" w="9510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11492"/>
                  </a:lnTo>
                  <a:cubicBezTo>
                    <a:pt x="95104" y="637754"/>
                    <a:pt x="73814" y="659044"/>
                    <a:pt x="47552" y="659044"/>
                  </a:cubicBezTo>
                  <a:lnTo>
                    <a:pt x="47552" y="659044"/>
                  </a:lnTo>
                  <a:cubicBezTo>
                    <a:pt x="21290" y="659044"/>
                    <a:pt x="0" y="637754"/>
                    <a:pt x="0" y="61149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95104" cy="69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093976" y="4707615"/>
            <a:ext cx="361099" cy="2502306"/>
            <a:chOff x="0" y="0"/>
            <a:chExt cx="95104" cy="65904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5104" cy="659044"/>
            </a:xfrm>
            <a:custGeom>
              <a:avLst/>
              <a:gdLst/>
              <a:ahLst/>
              <a:cxnLst/>
              <a:rect r="r" b="b" t="t" l="l"/>
              <a:pathLst>
                <a:path h="659044" w="9510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611492"/>
                  </a:lnTo>
                  <a:cubicBezTo>
                    <a:pt x="95104" y="637754"/>
                    <a:pt x="73814" y="659044"/>
                    <a:pt x="47552" y="659044"/>
                  </a:cubicBezTo>
                  <a:lnTo>
                    <a:pt x="47552" y="659044"/>
                  </a:lnTo>
                  <a:cubicBezTo>
                    <a:pt x="21290" y="659044"/>
                    <a:pt x="0" y="637754"/>
                    <a:pt x="0" y="61149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E7DED6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5104" cy="69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466416" y="6992705"/>
            <a:ext cx="361099" cy="2148932"/>
            <a:chOff x="0" y="0"/>
            <a:chExt cx="95104" cy="56597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5104" cy="565974"/>
            </a:xfrm>
            <a:custGeom>
              <a:avLst/>
              <a:gdLst/>
              <a:ahLst/>
              <a:cxnLst/>
              <a:rect r="r" b="b" t="t" l="l"/>
              <a:pathLst>
                <a:path h="565974" w="9510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518422"/>
                  </a:lnTo>
                  <a:cubicBezTo>
                    <a:pt x="95104" y="544684"/>
                    <a:pt x="73814" y="565974"/>
                    <a:pt x="47552" y="565974"/>
                  </a:cubicBezTo>
                  <a:lnTo>
                    <a:pt x="47552" y="565974"/>
                  </a:lnTo>
                  <a:cubicBezTo>
                    <a:pt x="21290" y="565974"/>
                    <a:pt x="0" y="544684"/>
                    <a:pt x="0" y="51842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95104" cy="604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093976" y="6992705"/>
            <a:ext cx="361099" cy="2148932"/>
            <a:chOff x="0" y="0"/>
            <a:chExt cx="95104" cy="56597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5104" cy="565974"/>
            </a:xfrm>
            <a:custGeom>
              <a:avLst/>
              <a:gdLst/>
              <a:ahLst/>
              <a:cxnLst/>
              <a:rect r="r" b="b" t="t" l="l"/>
              <a:pathLst>
                <a:path h="565974" w="95104">
                  <a:moveTo>
                    <a:pt x="47552" y="0"/>
                  </a:moveTo>
                  <a:lnTo>
                    <a:pt x="47552" y="0"/>
                  </a:lnTo>
                  <a:cubicBezTo>
                    <a:pt x="73814" y="0"/>
                    <a:pt x="95104" y="21290"/>
                    <a:pt x="95104" y="47552"/>
                  </a:cubicBezTo>
                  <a:lnTo>
                    <a:pt x="95104" y="518422"/>
                  </a:lnTo>
                  <a:cubicBezTo>
                    <a:pt x="95104" y="544684"/>
                    <a:pt x="73814" y="565974"/>
                    <a:pt x="47552" y="565974"/>
                  </a:cubicBezTo>
                  <a:lnTo>
                    <a:pt x="47552" y="565974"/>
                  </a:lnTo>
                  <a:cubicBezTo>
                    <a:pt x="21290" y="565974"/>
                    <a:pt x="0" y="544684"/>
                    <a:pt x="0" y="518422"/>
                  </a:cubicBezTo>
                  <a:lnTo>
                    <a:pt x="0" y="47552"/>
                  </a:lnTo>
                  <a:cubicBezTo>
                    <a:pt x="0" y="21290"/>
                    <a:pt x="21290" y="0"/>
                    <a:pt x="47552" y="0"/>
                  </a:cubicBezTo>
                  <a:close/>
                </a:path>
              </a:pathLst>
            </a:custGeom>
            <a:solidFill>
              <a:srgbClr val="FBF6EF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95104" cy="604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57968" y="3987945"/>
            <a:ext cx="7181564" cy="8838848"/>
          </a:xfrm>
          <a:custGeom>
            <a:avLst/>
            <a:gdLst/>
            <a:ahLst/>
            <a:cxnLst/>
            <a:rect r="r" b="b" t="t" l="l"/>
            <a:pathLst>
              <a:path h="8838848" w="7181564">
                <a:moveTo>
                  <a:pt x="0" y="0"/>
                </a:moveTo>
                <a:lnTo>
                  <a:pt x="7181564" y="0"/>
                </a:lnTo>
                <a:lnTo>
                  <a:pt x="7181564" y="8838848"/>
                </a:lnTo>
                <a:lnTo>
                  <a:pt x="0" y="8838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22871" y="3733187"/>
            <a:ext cx="782594" cy="332282"/>
            <a:chOff x="0" y="0"/>
            <a:chExt cx="1914314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4315" cy="812800"/>
            </a:xfrm>
            <a:custGeom>
              <a:avLst/>
              <a:gdLst/>
              <a:ahLst/>
              <a:cxnLst/>
              <a:rect r="r" b="b" t="t" l="l"/>
              <a:pathLst>
                <a:path h="812800" w="1914315">
                  <a:moveTo>
                    <a:pt x="957157" y="0"/>
                  </a:moveTo>
                  <a:cubicBezTo>
                    <a:pt x="428534" y="0"/>
                    <a:pt x="0" y="181951"/>
                    <a:pt x="0" y="406400"/>
                  </a:cubicBezTo>
                  <a:cubicBezTo>
                    <a:pt x="0" y="630849"/>
                    <a:pt x="428534" y="812800"/>
                    <a:pt x="957157" y="812800"/>
                  </a:cubicBezTo>
                  <a:cubicBezTo>
                    <a:pt x="1485781" y="812800"/>
                    <a:pt x="1914315" y="630849"/>
                    <a:pt x="1914315" y="406400"/>
                  </a:cubicBezTo>
                  <a:cubicBezTo>
                    <a:pt x="1914315" y="181951"/>
                    <a:pt x="1485781" y="0"/>
                    <a:pt x="957157" y="0"/>
                  </a:cubicBezTo>
                  <a:lnTo>
                    <a:pt x="957157" y="0"/>
                  </a:lnTo>
                  <a:close/>
                </a:path>
              </a:pathLst>
            </a:custGeom>
            <a:solidFill>
              <a:srgbClr val="3D6298">
                <a:alpha val="2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79467" y="38100"/>
              <a:ext cx="155538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05631" y="3733187"/>
            <a:ext cx="782594" cy="332282"/>
            <a:chOff x="0" y="0"/>
            <a:chExt cx="191431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4315" cy="812800"/>
            </a:xfrm>
            <a:custGeom>
              <a:avLst/>
              <a:gdLst/>
              <a:ahLst/>
              <a:cxnLst/>
              <a:rect r="r" b="b" t="t" l="l"/>
              <a:pathLst>
                <a:path h="812800" w="1914315">
                  <a:moveTo>
                    <a:pt x="957157" y="0"/>
                  </a:moveTo>
                  <a:cubicBezTo>
                    <a:pt x="428534" y="0"/>
                    <a:pt x="0" y="181951"/>
                    <a:pt x="0" y="406400"/>
                  </a:cubicBezTo>
                  <a:cubicBezTo>
                    <a:pt x="0" y="630849"/>
                    <a:pt x="428534" y="812800"/>
                    <a:pt x="957157" y="812800"/>
                  </a:cubicBezTo>
                  <a:cubicBezTo>
                    <a:pt x="1485781" y="812800"/>
                    <a:pt x="1914315" y="630849"/>
                    <a:pt x="1914315" y="406400"/>
                  </a:cubicBezTo>
                  <a:cubicBezTo>
                    <a:pt x="1914315" y="181951"/>
                    <a:pt x="1485781" y="0"/>
                    <a:pt x="957157" y="0"/>
                  </a:cubicBezTo>
                  <a:lnTo>
                    <a:pt x="957157" y="0"/>
                  </a:lnTo>
                  <a:close/>
                </a:path>
              </a:pathLst>
            </a:custGeom>
            <a:solidFill>
              <a:srgbClr val="BEC8DA">
                <a:alpha val="2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79467" y="38100"/>
              <a:ext cx="155538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82506" y="1858327"/>
            <a:ext cx="4263325" cy="1714832"/>
            <a:chOff x="0" y="0"/>
            <a:chExt cx="1122851" cy="4516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2851" cy="451643"/>
            </a:xfrm>
            <a:custGeom>
              <a:avLst/>
              <a:gdLst/>
              <a:ahLst/>
              <a:cxnLst/>
              <a:rect r="r" b="b" t="t" l="l"/>
              <a:pathLst>
                <a:path h="451643" w="1122851">
                  <a:moveTo>
                    <a:pt x="43582" y="0"/>
                  </a:moveTo>
                  <a:lnTo>
                    <a:pt x="1079269" y="0"/>
                  </a:lnTo>
                  <a:cubicBezTo>
                    <a:pt x="1090828" y="0"/>
                    <a:pt x="1101913" y="4592"/>
                    <a:pt x="1110086" y="12765"/>
                  </a:cubicBezTo>
                  <a:cubicBezTo>
                    <a:pt x="1118259" y="20938"/>
                    <a:pt x="1122851" y="32024"/>
                    <a:pt x="1122851" y="43582"/>
                  </a:cubicBezTo>
                  <a:lnTo>
                    <a:pt x="1122851" y="408061"/>
                  </a:lnTo>
                  <a:cubicBezTo>
                    <a:pt x="1122851" y="419619"/>
                    <a:pt x="1118259" y="430705"/>
                    <a:pt x="1110086" y="438878"/>
                  </a:cubicBezTo>
                  <a:cubicBezTo>
                    <a:pt x="1101913" y="447051"/>
                    <a:pt x="1090828" y="451643"/>
                    <a:pt x="1079269" y="451643"/>
                  </a:cubicBezTo>
                  <a:lnTo>
                    <a:pt x="43582" y="451643"/>
                  </a:lnTo>
                  <a:cubicBezTo>
                    <a:pt x="32024" y="451643"/>
                    <a:pt x="20938" y="447051"/>
                    <a:pt x="12765" y="438878"/>
                  </a:cubicBezTo>
                  <a:cubicBezTo>
                    <a:pt x="4592" y="430705"/>
                    <a:pt x="0" y="419619"/>
                    <a:pt x="0" y="408061"/>
                  </a:cubicBezTo>
                  <a:lnTo>
                    <a:pt x="0" y="43582"/>
                  </a:lnTo>
                  <a:cubicBezTo>
                    <a:pt x="0" y="32024"/>
                    <a:pt x="4592" y="20938"/>
                    <a:pt x="12765" y="12765"/>
                  </a:cubicBezTo>
                  <a:cubicBezTo>
                    <a:pt x="20938" y="4592"/>
                    <a:pt x="32024" y="0"/>
                    <a:pt x="43582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22851" cy="48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65265" y="1858327"/>
            <a:ext cx="4263325" cy="1714832"/>
            <a:chOff x="0" y="0"/>
            <a:chExt cx="1122851" cy="4516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2851" cy="451643"/>
            </a:xfrm>
            <a:custGeom>
              <a:avLst/>
              <a:gdLst/>
              <a:ahLst/>
              <a:cxnLst/>
              <a:rect r="r" b="b" t="t" l="l"/>
              <a:pathLst>
                <a:path h="451643" w="1122851">
                  <a:moveTo>
                    <a:pt x="43582" y="0"/>
                  </a:moveTo>
                  <a:lnTo>
                    <a:pt x="1079269" y="0"/>
                  </a:lnTo>
                  <a:cubicBezTo>
                    <a:pt x="1090828" y="0"/>
                    <a:pt x="1101913" y="4592"/>
                    <a:pt x="1110086" y="12765"/>
                  </a:cubicBezTo>
                  <a:cubicBezTo>
                    <a:pt x="1118259" y="20938"/>
                    <a:pt x="1122851" y="32024"/>
                    <a:pt x="1122851" y="43582"/>
                  </a:cubicBezTo>
                  <a:lnTo>
                    <a:pt x="1122851" y="408061"/>
                  </a:lnTo>
                  <a:cubicBezTo>
                    <a:pt x="1122851" y="419619"/>
                    <a:pt x="1118259" y="430705"/>
                    <a:pt x="1110086" y="438878"/>
                  </a:cubicBezTo>
                  <a:cubicBezTo>
                    <a:pt x="1101913" y="447051"/>
                    <a:pt x="1090828" y="451643"/>
                    <a:pt x="1079269" y="451643"/>
                  </a:cubicBezTo>
                  <a:lnTo>
                    <a:pt x="43582" y="451643"/>
                  </a:lnTo>
                  <a:cubicBezTo>
                    <a:pt x="32024" y="451643"/>
                    <a:pt x="20938" y="447051"/>
                    <a:pt x="12765" y="438878"/>
                  </a:cubicBezTo>
                  <a:cubicBezTo>
                    <a:pt x="4592" y="430705"/>
                    <a:pt x="0" y="419619"/>
                    <a:pt x="0" y="408061"/>
                  </a:cubicBezTo>
                  <a:lnTo>
                    <a:pt x="0" y="43582"/>
                  </a:lnTo>
                  <a:cubicBezTo>
                    <a:pt x="0" y="32024"/>
                    <a:pt x="4592" y="20938"/>
                    <a:pt x="12765" y="12765"/>
                  </a:cubicBezTo>
                  <a:cubicBezTo>
                    <a:pt x="20938" y="4592"/>
                    <a:pt x="32024" y="0"/>
                    <a:pt x="43582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22851" cy="48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272353" y="2715743"/>
            <a:ext cx="3883630" cy="769665"/>
          </a:xfrm>
          <a:custGeom>
            <a:avLst/>
            <a:gdLst/>
            <a:ahLst/>
            <a:cxnLst/>
            <a:rect r="r" b="b" t="t" l="l"/>
            <a:pathLst>
              <a:path h="769665" w="3883630">
                <a:moveTo>
                  <a:pt x="0" y="0"/>
                </a:moveTo>
                <a:lnTo>
                  <a:pt x="3883630" y="0"/>
                </a:lnTo>
                <a:lnTo>
                  <a:pt x="3883630" y="769664"/>
                </a:lnTo>
                <a:lnTo>
                  <a:pt x="0" y="769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55113" y="2715743"/>
            <a:ext cx="3883630" cy="769665"/>
          </a:xfrm>
          <a:custGeom>
            <a:avLst/>
            <a:gdLst/>
            <a:ahLst/>
            <a:cxnLst/>
            <a:rect r="r" b="b" t="t" l="l"/>
            <a:pathLst>
              <a:path h="769665" w="3883630">
                <a:moveTo>
                  <a:pt x="0" y="0"/>
                </a:moveTo>
                <a:lnTo>
                  <a:pt x="3883629" y="0"/>
                </a:lnTo>
                <a:lnTo>
                  <a:pt x="3883629" y="769664"/>
                </a:lnTo>
                <a:lnTo>
                  <a:pt x="0" y="769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72353" y="1077567"/>
            <a:ext cx="3883630" cy="2216573"/>
            <a:chOff x="0" y="0"/>
            <a:chExt cx="1022849" cy="5837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2849" cy="583789"/>
            </a:xfrm>
            <a:custGeom>
              <a:avLst/>
              <a:gdLst/>
              <a:ahLst/>
              <a:cxnLst/>
              <a:rect r="r" b="b" t="t" l="l"/>
              <a:pathLst>
                <a:path h="583789" w="1022849">
                  <a:moveTo>
                    <a:pt x="47843" y="0"/>
                  </a:moveTo>
                  <a:lnTo>
                    <a:pt x="975006" y="0"/>
                  </a:lnTo>
                  <a:cubicBezTo>
                    <a:pt x="987694" y="0"/>
                    <a:pt x="999864" y="5041"/>
                    <a:pt x="1008836" y="14013"/>
                  </a:cubicBezTo>
                  <a:cubicBezTo>
                    <a:pt x="1017808" y="22985"/>
                    <a:pt x="1022849" y="35155"/>
                    <a:pt x="1022849" y="47843"/>
                  </a:cubicBezTo>
                  <a:lnTo>
                    <a:pt x="1022849" y="535945"/>
                  </a:lnTo>
                  <a:cubicBezTo>
                    <a:pt x="1022849" y="548634"/>
                    <a:pt x="1017808" y="560803"/>
                    <a:pt x="1008836" y="569776"/>
                  </a:cubicBezTo>
                  <a:cubicBezTo>
                    <a:pt x="999864" y="578748"/>
                    <a:pt x="987694" y="583789"/>
                    <a:pt x="975006" y="583789"/>
                  </a:cubicBezTo>
                  <a:lnTo>
                    <a:pt x="47843" y="583789"/>
                  </a:lnTo>
                  <a:cubicBezTo>
                    <a:pt x="35155" y="583789"/>
                    <a:pt x="22985" y="578748"/>
                    <a:pt x="14013" y="569776"/>
                  </a:cubicBezTo>
                  <a:cubicBezTo>
                    <a:pt x="5041" y="560803"/>
                    <a:pt x="0" y="548634"/>
                    <a:pt x="0" y="535945"/>
                  </a:cubicBezTo>
                  <a:lnTo>
                    <a:pt x="0" y="47843"/>
                  </a:lnTo>
                  <a:cubicBezTo>
                    <a:pt x="0" y="35155"/>
                    <a:pt x="5041" y="22985"/>
                    <a:pt x="14013" y="14013"/>
                  </a:cubicBezTo>
                  <a:cubicBezTo>
                    <a:pt x="22985" y="5041"/>
                    <a:pt x="35155" y="0"/>
                    <a:pt x="478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2849" cy="62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55113" y="1077567"/>
            <a:ext cx="3883630" cy="2216573"/>
            <a:chOff x="0" y="0"/>
            <a:chExt cx="1022849" cy="58378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2849" cy="583789"/>
            </a:xfrm>
            <a:custGeom>
              <a:avLst/>
              <a:gdLst/>
              <a:ahLst/>
              <a:cxnLst/>
              <a:rect r="r" b="b" t="t" l="l"/>
              <a:pathLst>
                <a:path h="583789" w="1022849">
                  <a:moveTo>
                    <a:pt x="47843" y="0"/>
                  </a:moveTo>
                  <a:lnTo>
                    <a:pt x="975006" y="0"/>
                  </a:lnTo>
                  <a:cubicBezTo>
                    <a:pt x="987694" y="0"/>
                    <a:pt x="999864" y="5041"/>
                    <a:pt x="1008836" y="14013"/>
                  </a:cubicBezTo>
                  <a:cubicBezTo>
                    <a:pt x="1017808" y="22985"/>
                    <a:pt x="1022849" y="35155"/>
                    <a:pt x="1022849" y="47843"/>
                  </a:cubicBezTo>
                  <a:lnTo>
                    <a:pt x="1022849" y="535945"/>
                  </a:lnTo>
                  <a:cubicBezTo>
                    <a:pt x="1022849" y="548634"/>
                    <a:pt x="1017808" y="560803"/>
                    <a:pt x="1008836" y="569776"/>
                  </a:cubicBezTo>
                  <a:cubicBezTo>
                    <a:pt x="999864" y="578748"/>
                    <a:pt x="987694" y="583789"/>
                    <a:pt x="975006" y="583789"/>
                  </a:cubicBezTo>
                  <a:lnTo>
                    <a:pt x="47843" y="583789"/>
                  </a:lnTo>
                  <a:cubicBezTo>
                    <a:pt x="35155" y="583789"/>
                    <a:pt x="22985" y="578748"/>
                    <a:pt x="14013" y="569776"/>
                  </a:cubicBezTo>
                  <a:cubicBezTo>
                    <a:pt x="5041" y="560803"/>
                    <a:pt x="0" y="548634"/>
                    <a:pt x="0" y="535945"/>
                  </a:cubicBezTo>
                  <a:lnTo>
                    <a:pt x="0" y="47843"/>
                  </a:lnTo>
                  <a:cubicBezTo>
                    <a:pt x="0" y="35155"/>
                    <a:pt x="5041" y="22985"/>
                    <a:pt x="14013" y="14013"/>
                  </a:cubicBezTo>
                  <a:cubicBezTo>
                    <a:pt x="22985" y="5041"/>
                    <a:pt x="35155" y="0"/>
                    <a:pt x="478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2849" cy="62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63331" y="3436469"/>
            <a:ext cx="501674" cy="438965"/>
            <a:chOff x="0" y="0"/>
            <a:chExt cx="812800" cy="71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3C619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6091" y="3436469"/>
            <a:ext cx="501674" cy="438965"/>
            <a:chOff x="0" y="0"/>
            <a:chExt cx="8128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72175" y="5452751"/>
            <a:ext cx="4263325" cy="1714832"/>
            <a:chOff x="0" y="0"/>
            <a:chExt cx="1122851" cy="4516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2851" cy="451643"/>
            </a:xfrm>
            <a:custGeom>
              <a:avLst/>
              <a:gdLst/>
              <a:ahLst/>
              <a:cxnLst/>
              <a:rect r="r" b="b" t="t" l="l"/>
              <a:pathLst>
                <a:path h="451643" w="1122851">
                  <a:moveTo>
                    <a:pt x="43582" y="0"/>
                  </a:moveTo>
                  <a:lnTo>
                    <a:pt x="1079269" y="0"/>
                  </a:lnTo>
                  <a:cubicBezTo>
                    <a:pt x="1090828" y="0"/>
                    <a:pt x="1101913" y="4592"/>
                    <a:pt x="1110086" y="12765"/>
                  </a:cubicBezTo>
                  <a:cubicBezTo>
                    <a:pt x="1118259" y="20938"/>
                    <a:pt x="1122851" y="32024"/>
                    <a:pt x="1122851" y="43582"/>
                  </a:cubicBezTo>
                  <a:lnTo>
                    <a:pt x="1122851" y="408061"/>
                  </a:lnTo>
                  <a:cubicBezTo>
                    <a:pt x="1122851" y="419619"/>
                    <a:pt x="1118259" y="430705"/>
                    <a:pt x="1110086" y="438878"/>
                  </a:cubicBezTo>
                  <a:cubicBezTo>
                    <a:pt x="1101913" y="447051"/>
                    <a:pt x="1090828" y="451643"/>
                    <a:pt x="1079269" y="451643"/>
                  </a:cubicBezTo>
                  <a:lnTo>
                    <a:pt x="43582" y="451643"/>
                  </a:lnTo>
                  <a:cubicBezTo>
                    <a:pt x="32024" y="451643"/>
                    <a:pt x="20938" y="447051"/>
                    <a:pt x="12765" y="438878"/>
                  </a:cubicBezTo>
                  <a:cubicBezTo>
                    <a:pt x="4592" y="430705"/>
                    <a:pt x="0" y="419619"/>
                    <a:pt x="0" y="408061"/>
                  </a:cubicBezTo>
                  <a:lnTo>
                    <a:pt x="0" y="43582"/>
                  </a:lnTo>
                  <a:cubicBezTo>
                    <a:pt x="0" y="32024"/>
                    <a:pt x="4592" y="20938"/>
                    <a:pt x="12765" y="12765"/>
                  </a:cubicBezTo>
                  <a:cubicBezTo>
                    <a:pt x="20938" y="4592"/>
                    <a:pt x="32024" y="0"/>
                    <a:pt x="43582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22851" cy="48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94643" y="5452751"/>
            <a:ext cx="4263325" cy="1714832"/>
            <a:chOff x="0" y="0"/>
            <a:chExt cx="1122851" cy="4516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2851" cy="451643"/>
            </a:xfrm>
            <a:custGeom>
              <a:avLst/>
              <a:gdLst/>
              <a:ahLst/>
              <a:cxnLst/>
              <a:rect r="r" b="b" t="t" l="l"/>
              <a:pathLst>
                <a:path h="451643" w="1122851">
                  <a:moveTo>
                    <a:pt x="43582" y="0"/>
                  </a:moveTo>
                  <a:lnTo>
                    <a:pt x="1079269" y="0"/>
                  </a:lnTo>
                  <a:cubicBezTo>
                    <a:pt x="1090828" y="0"/>
                    <a:pt x="1101913" y="4592"/>
                    <a:pt x="1110086" y="12765"/>
                  </a:cubicBezTo>
                  <a:cubicBezTo>
                    <a:pt x="1118259" y="20938"/>
                    <a:pt x="1122851" y="32024"/>
                    <a:pt x="1122851" y="43582"/>
                  </a:cubicBezTo>
                  <a:lnTo>
                    <a:pt x="1122851" y="408061"/>
                  </a:lnTo>
                  <a:cubicBezTo>
                    <a:pt x="1122851" y="419619"/>
                    <a:pt x="1118259" y="430705"/>
                    <a:pt x="1110086" y="438878"/>
                  </a:cubicBezTo>
                  <a:cubicBezTo>
                    <a:pt x="1101913" y="447051"/>
                    <a:pt x="1090828" y="451643"/>
                    <a:pt x="1079269" y="451643"/>
                  </a:cubicBezTo>
                  <a:lnTo>
                    <a:pt x="43582" y="451643"/>
                  </a:lnTo>
                  <a:cubicBezTo>
                    <a:pt x="32024" y="451643"/>
                    <a:pt x="20938" y="447051"/>
                    <a:pt x="12765" y="438878"/>
                  </a:cubicBezTo>
                  <a:cubicBezTo>
                    <a:pt x="4592" y="430705"/>
                    <a:pt x="0" y="419619"/>
                    <a:pt x="0" y="408061"/>
                  </a:cubicBezTo>
                  <a:lnTo>
                    <a:pt x="0" y="43582"/>
                  </a:lnTo>
                  <a:cubicBezTo>
                    <a:pt x="0" y="32024"/>
                    <a:pt x="4592" y="20938"/>
                    <a:pt x="12765" y="12765"/>
                  </a:cubicBezTo>
                  <a:cubicBezTo>
                    <a:pt x="20938" y="4592"/>
                    <a:pt x="32024" y="0"/>
                    <a:pt x="43582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122851" cy="489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3262023" y="6310167"/>
            <a:ext cx="3883630" cy="769665"/>
          </a:xfrm>
          <a:custGeom>
            <a:avLst/>
            <a:gdLst/>
            <a:ahLst/>
            <a:cxnLst/>
            <a:rect r="r" b="b" t="t" l="l"/>
            <a:pathLst>
              <a:path h="769665" w="3883630">
                <a:moveTo>
                  <a:pt x="0" y="0"/>
                </a:moveTo>
                <a:lnTo>
                  <a:pt x="3883629" y="0"/>
                </a:lnTo>
                <a:lnTo>
                  <a:pt x="3883629" y="769665"/>
                </a:lnTo>
                <a:lnTo>
                  <a:pt x="0" y="769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84490" y="6310167"/>
            <a:ext cx="3883630" cy="769665"/>
          </a:xfrm>
          <a:custGeom>
            <a:avLst/>
            <a:gdLst/>
            <a:ahLst/>
            <a:cxnLst/>
            <a:rect r="r" b="b" t="t" l="l"/>
            <a:pathLst>
              <a:path h="769665" w="3883630">
                <a:moveTo>
                  <a:pt x="0" y="0"/>
                </a:moveTo>
                <a:lnTo>
                  <a:pt x="3883630" y="0"/>
                </a:lnTo>
                <a:lnTo>
                  <a:pt x="3883630" y="769665"/>
                </a:lnTo>
                <a:lnTo>
                  <a:pt x="0" y="769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3262023" y="4671991"/>
            <a:ext cx="3883630" cy="2216573"/>
            <a:chOff x="0" y="0"/>
            <a:chExt cx="1022849" cy="5837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2849" cy="583789"/>
            </a:xfrm>
            <a:custGeom>
              <a:avLst/>
              <a:gdLst/>
              <a:ahLst/>
              <a:cxnLst/>
              <a:rect r="r" b="b" t="t" l="l"/>
              <a:pathLst>
                <a:path h="583789" w="1022849">
                  <a:moveTo>
                    <a:pt x="47843" y="0"/>
                  </a:moveTo>
                  <a:lnTo>
                    <a:pt x="975006" y="0"/>
                  </a:lnTo>
                  <a:cubicBezTo>
                    <a:pt x="987694" y="0"/>
                    <a:pt x="999864" y="5041"/>
                    <a:pt x="1008836" y="14013"/>
                  </a:cubicBezTo>
                  <a:cubicBezTo>
                    <a:pt x="1017808" y="22985"/>
                    <a:pt x="1022849" y="35155"/>
                    <a:pt x="1022849" y="47843"/>
                  </a:cubicBezTo>
                  <a:lnTo>
                    <a:pt x="1022849" y="535945"/>
                  </a:lnTo>
                  <a:cubicBezTo>
                    <a:pt x="1022849" y="548634"/>
                    <a:pt x="1017808" y="560803"/>
                    <a:pt x="1008836" y="569776"/>
                  </a:cubicBezTo>
                  <a:cubicBezTo>
                    <a:pt x="999864" y="578748"/>
                    <a:pt x="987694" y="583789"/>
                    <a:pt x="975006" y="583789"/>
                  </a:cubicBezTo>
                  <a:lnTo>
                    <a:pt x="47843" y="583789"/>
                  </a:lnTo>
                  <a:cubicBezTo>
                    <a:pt x="35155" y="583789"/>
                    <a:pt x="22985" y="578748"/>
                    <a:pt x="14013" y="569776"/>
                  </a:cubicBezTo>
                  <a:cubicBezTo>
                    <a:pt x="5041" y="560803"/>
                    <a:pt x="0" y="548634"/>
                    <a:pt x="0" y="535945"/>
                  </a:cubicBezTo>
                  <a:lnTo>
                    <a:pt x="0" y="47843"/>
                  </a:lnTo>
                  <a:cubicBezTo>
                    <a:pt x="0" y="35155"/>
                    <a:pt x="5041" y="22985"/>
                    <a:pt x="14013" y="14013"/>
                  </a:cubicBezTo>
                  <a:cubicBezTo>
                    <a:pt x="22985" y="5041"/>
                    <a:pt x="35155" y="0"/>
                    <a:pt x="478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22849" cy="62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84490" y="4671991"/>
            <a:ext cx="3883630" cy="2216573"/>
            <a:chOff x="0" y="0"/>
            <a:chExt cx="1022849" cy="58378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2849" cy="583789"/>
            </a:xfrm>
            <a:custGeom>
              <a:avLst/>
              <a:gdLst/>
              <a:ahLst/>
              <a:cxnLst/>
              <a:rect r="r" b="b" t="t" l="l"/>
              <a:pathLst>
                <a:path h="583789" w="1022849">
                  <a:moveTo>
                    <a:pt x="47843" y="0"/>
                  </a:moveTo>
                  <a:lnTo>
                    <a:pt x="975006" y="0"/>
                  </a:lnTo>
                  <a:cubicBezTo>
                    <a:pt x="987694" y="0"/>
                    <a:pt x="999864" y="5041"/>
                    <a:pt x="1008836" y="14013"/>
                  </a:cubicBezTo>
                  <a:cubicBezTo>
                    <a:pt x="1017808" y="22985"/>
                    <a:pt x="1022849" y="35155"/>
                    <a:pt x="1022849" y="47843"/>
                  </a:cubicBezTo>
                  <a:lnTo>
                    <a:pt x="1022849" y="535945"/>
                  </a:lnTo>
                  <a:cubicBezTo>
                    <a:pt x="1022849" y="548634"/>
                    <a:pt x="1017808" y="560803"/>
                    <a:pt x="1008836" y="569776"/>
                  </a:cubicBezTo>
                  <a:cubicBezTo>
                    <a:pt x="999864" y="578748"/>
                    <a:pt x="987694" y="583789"/>
                    <a:pt x="975006" y="583789"/>
                  </a:cubicBezTo>
                  <a:lnTo>
                    <a:pt x="47843" y="583789"/>
                  </a:lnTo>
                  <a:cubicBezTo>
                    <a:pt x="35155" y="583789"/>
                    <a:pt x="22985" y="578748"/>
                    <a:pt x="14013" y="569776"/>
                  </a:cubicBezTo>
                  <a:cubicBezTo>
                    <a:pt x="5041" y="560803"/>
                    <a:pt x="0" y="548634"/>
                    <a:pt x="0" y="535945"/>
                  </a:cubicBezTo>
                  <a:lnTo>
                    <a:pt x="0" y="47843"/>
                  </a:lnTo>
                  <a:cubicBezTo>
                    <a:pt x="0" y="35155"/>
                    <a:pt x="5041" y="22985"/>
                    <a:pt x="14013" y="14013"/>
                  </a:cubicBezTo>
                  <a:cubicBezTo>
                    <a:pt x="22985" y="5041"/>
                    <a:pt x="35155" y="0"/>
                    <a:pt x="478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22849" cy="621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953000" y="7030893"/>
            <a:ext cx="501674" cy="438965"/>
            <a:chOff x="0" y="0"/>
            <a:chExt cx="812800" cy="711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075468" y="7030893"/>
            <a:ext cx="501674" cy="438965"/>
            <a:chOff x="0" y="0"/>
            <a:chExt cx="812800" cy="711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812540" y="7303716"/>
            <a:ext cx="782594" cy="332282"/>
            <a:chOff x="0" y="0"/>
            <a:chExt cx="1914314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14315" cy="812800"/>
            </a:xfrm>
            <a:custGeom>
              <a:avLst/>
              <a:gdLst/>
              <a:ahLst/>
              <a:cxnLst/>
              <a:rect r="r" b="b" t="t" l="l"/>
              <a:pathLst>
                <a:path h="812800" w="1914315">
                  <a:moveTo>
                    <a:pt x="957157" y="0"/>
                  </a:moveTo>
                  <a:cubicBezTo>
                    <a:pt x="428534" y="0"/>
                    <a:pt x="0" y="181951"/>
                    <a:pt x="0" y="406400"/>
                  </a:cubicBezTo>
                  <a:cubicBezTo>
                    <a:pt x="0" y="630849"/>
                    <a:pt x="428534" y="812800"/>
                    <a:pt x="957157" y="812800"/>
                  </a:cubicBezTo>
                  <a:cubicBezTo>
                    <a:pt x="1485781" y="812800"/>
                    <a:pt x="1914315" y="630849"/>
                    <a:pt x="1914315" y="406400"/>
                  </a:cubicBezTo>
                  <a:cubicBezTo>
                    <a:pt x="1914315" y="181951"/>
                    <a:pt x="1485781" y="0"/>
                    <a:pt x="957157" y="0"/>
                  </a:cubicBezTo>
                  <a:lnTo>
                    <a:pt x="957157" y="0"/>
                  </a:lnTo>
                  <a:close/>
                </a:path>
              </a:pathLst>
            </a:custGeom>
            <a:solidFill>
              <a:srgbClr val="F68D55">
                <a:alpha val="2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179467" y="38100"/>
              <a:ext cx="155538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935008" y="7303716"/>
            <a:ext cx="782594" cy="332282"/>
            <a:chOff x="0" y="0"/>
            <a:chExt cx="1914314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14315" cy="812800"/>
            </a:xfrm>
            <a:custGeom>
              <a:avLst/>
              <a:gdLst/>
              <a:ahLst/>
              <a:cxnLst/>
              <a:rect r="r" b="b" t="t" l="l"/>
              <a:pathLst>
                <a:path h="812800" w="1914315">
                  <a:moveTo>
                    <a:pt x="957157" y="0"/>
                  </a:moveTo>
                  <a:cubicBezTo>
                    <a:pt x="428534" y="0"/>
                    <a:pt x="0" y="181951"/>
                    <a:pt x="0" y="406400"/>
                  </a:cubicBezTo>
                  <a:cubicBezTo>
                    <a:pt x="0" y="630849"/>
                    <a:pt x="428534" y="812800"/>
                    <a:pt x="957157" y="812800"/>
                  </a:cubicBezTo>
                  <a:cubicBezTo>
                    <a:pt x="1485781" y="812800"/>
                    <a:pt x="1914315" y="630849"/>
                    <a:pt x="1914315" y="406400"/>
                  </a:cubicBezTo>
                  <a:cubicBezTo>
                    <a:pt x="1914315" y="181951"/>
                    <a:pt x="1485781" y="0"/>
                    <a:pt x="957157" y="0"/>
                  </a:cubicBezTo>
                  <a:lnTo>
                    <a:pt x="957157" y="0"/>
                  </a:lnTo>
                  <a:close/>
                </a:path>
              </a:pathLst>
            </a:custGeom>
            <a:solidFill>
              <a:srgbClr val="122359">
                <a:alpha val="26667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179467" y="38100"/>
              <a:ext cx="155538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130045" y="4521682"/>
            <a:ext cx="675360" cy="675360"/>
          </a:xfrm>
          <a:custGeom>
            <a:avLst/>
            <a:gdLst/>
            <a:ahLst/>
            <a:cxnLst/>
            <a:rect r="r" b="b" t="t" l="l"/>
            <a:pathLst>
              <a:path h="675360" w="675360">
                <a:moveTo>
                  <a:pt x="0" y="0"/>
                </a:moveTo>
                <a:lnTo>
                  <a:pt x="675360" y="0"/>
                </a:lnTo>
                <a:lnTo>
                  <a:pt x="675360" y="675361"/>
                </a:lnTo>
                <a:lnTo>
                  <a:pt x="0" y="6753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1179779" y="5786909"/>
            <a:ext cx="758532" cy="758532"/>
          </a:xfrm>
          <a:custGeom>
            <a:avLst/>
            <a:gdLst/>
            <a:ahLst/>
            <a:cxnLst/>
            <a:rect r="r" b="b" t="t" l="l"/>
            <a:pathLst>
              <a:path h="758532" w="758532">
                <a:moveTo>
                  <a:pt x="0" y="0"/>
                </a:moveTo>
                <a:lnTo>
                  <a:pt x="758532" y="0"/>
                </a:lnTo>
                <a:lnTo>
                  <a:pt x="758532" y="758531"/>
                </a:lnTo>
                <a:lnTo>
                  <a:pt x="0" y="7585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853135" y="4634370"/>
            <a:ext cx="675360" cy="675360"/>
          </a:xfrm>
          <a:custGeom>
            <a:avLst/>
            <a:gdLst/>
            <a:ahLst/>
            <a:cxnLst/>
            <a:rect r="r" b="b" t="t" l="l"/>
            <a:pathLst>
              <a:path h="675360" w="675360">
                <a:moveTo>
                  <a:pt x="0" y="0"/>
                </a:moveTo>
                <a:lnTo>
                  <a:pt x="675360" y="0"/>
                </a:lnTo>
                <a:lnTo>
                  <a:pt x="675360" y="675360"/>
                </a:lnTo>
                <a:lnTo>
                  <a:pt x="0" y="6753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748706" y="5828494"/>
            <a:ext cx="675360" cy="675360"/>
          </a:xfrm>
          <a:custGeom>
            <a:avLst/>
            <a:gdLst/>
            <a:ahLst/>
            <a:cxnLst/>
            <a:rect r="r" b="b" t="t" l="l"/>
            <a:pathLst>
              <a:path h="675360" w="675360">
                <a:moveTo>
                  <a:pt x="0" y="0"/>
                </a:moveTo>
                <a:lnTo>
                  <a:pt x="675361" y="0"/>
                </a:lnTo>
                <a:lnTo>
                  <a:pt x="675361" y="675361"/>
                </a:lnTo>
                <a:lnTo>
                  <a:pt x="0" y="6753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5941909" y="7736065"/>
            <a:ext cx="6404181" cy="99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Feat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ure Impact</a:t>
            </a:r>
          </a:p>
          <a:p>
            <a:pPr algn="ctr">
              <a:lnSpc>
                <a:spcPts val="3852"/>
              </a:lnSpc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Levels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941909" y="8844812"/>
            <a:ext cx="6404181" cy="356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our ways features affect user choice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983253" y="1848656"/>
            <a:ext cx="322734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Enhanc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es overall satisfaction by improving product interaction quality, making usage feel smoother and more enjoyable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600494" y="1848656"/>
            <a:ext cx="322734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ows the feature’s ability to reduce unnecessary spending by offering efficient functions and lowering long-term expenses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983253" y="1430216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Experience Boost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600494" y="1430216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Cost Saving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590163" y="5443080"/>
            <a:ext cx="322734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Acts as th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decisive factor that strongly influences the final selection, guiding users to choose one product over another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12631" y="5443080"/>
            <a:ext cx="3227349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Highl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ights how the feature increases ease of use, simplifies daily tasks, and helps users save both time and effort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590163" y="5024640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Decision Driver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12631" y="5024640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Convenience Gain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67768" y="30480"/>
            <a:ext cx="218799" cy="10226040"/>
            <a:chOff x="0" y="0"/>
            <a:chExt cx="57626" cy="2693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26" cy="2693278"/>
            </a:xfrm>
            <a:custGeom>
              <a:avLst/>
              <a:gdLst/>
              <a:ahLst/>
              <a:cxnLst/>
              <a:rect r="r" b="b" t="t" l="l"/>
              <a:pathLst>
                <a:path h="2693278" w="57626">
                  <a:moveTo>
                    <a:pt x="0" y="0"/>
                  </a:moveTo>
                  <a:lnTo>
                    <a:pt x="57626" y="0"/>
                  </a:lnTo>
                  <a:lnTo>
                    <a:pt x="57626" y="2693278"/>
                  </a:lnTo>
                  <a:lnTo>
                    <a:pt x="0" y="2693278"/>
                  </a:ln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626" cy="2731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29080" y="30480"/>
            <a:ext cx="218799" cy="10226040"/>
            <a:chOff x="0" y="0"/>
            <a:chExt cx="57626" cy="2693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26" cy="2693278"/>
            </a:xfrm>
            <a:custGeom>
              <a:avLst/>
              <a:gdLst/>
              <a:ahLst/>
              <a:cxnLst/>
              <a:rect r="r" b="b" t="t" l="l"/>
              <a:pathLst>
                <a:path h="2693278" w="57626">
                  <a:moveTo>
                    <a:pt x="0" y="0"/>
                  </a:moveTo>
                  <a:lnTo>
                    <a:pt x="57626" y="0"/>
                  </a:lnTo>
                  <a:lnTo>
                    <a:pt x="57626" y="2693278"/>
                  </a:lnTo>
                  <a:lnTo>
                    <a:pt x="0" y="2693278"/>
                  </a:lnTo>
                  <a:close/>
                </a:path>
              </a:pathLst>
            </a:custGeom>
            <a:solidFill>
              <a:srgbClr val="BEC8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7626" cy="2731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03764" y="2546179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8" y="0"/>
                </a:lnTo>
                <a:lnTo>
                  <a:pt x="946808" y="1063332"/>
                </a:lnTo>
                <a:lnTo>
                  <a:pt x="0" y="1063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65076" y="2546179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7" y="0"/>
                </a:lnTo>
                <a:lnTo>
                  <a:pt x="946807" y="1063332"/>
                </a:lnTo>
                <a:lnTo>
                  <a:pt x="0" y="1063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03764" y="3984919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8" y="0"/>
                </a:lnTo>
                <a:lnTo>
                  <a:pt x="946808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865076" y="3984919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7" y="0"/>
                </a:lnTo>
                <a:lnTo>
                  <a:pt x="946807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3768385"/>
            <a:ext cx="3964407" cy="126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A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pproach Comparison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343230"/>
            <a:ext cx="396440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ompare two approaches by structure, performance, cost, flexibility, and support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17022" y="2783840"/>
            <a:ext cx="398371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ollows a simple structure that is practical and easy to apply in different situations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78333" y="2783840"/>
            <a:ext cx="425716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Uses a more 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omplex structure with detailed steps designed for advanced application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17022" y="4222579"/>
            <a:ext cx="398371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ovides consistent performance that remains stable across regular use cases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78333" y="4222579"/>
            <a:ext cx="418096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ows variable performance levels that may shift depending on specific conditions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003764" y="5423658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8" y="0"/>
                </a:lnTo>
                <a:lnTo>
                  <a:pt x="946808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1865076" y="5423658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7" y="0"/>
                </a:lnTo>
                <a:lnTo>
                  <a:pt x="946807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7217022" y="5661319"/>
            <a:ext cx="398371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Off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ers moderate cost while still delivering fair balance of value and benefit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78333" y="5661319"/>
            <a:ext cx="418096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Mainta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ins a lower cost but often requires trade-offs in certain feature areas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003764" y="6862398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8" y="0"/>
                </a:lnTo>
                <a:lnTo>
                  <a:pt x="946808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1865076" y="6862398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7" y="0"/>
                </a:lnTo>
                <a:lnTo>
                  <a:pt x="946807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4" id="24"/>
          <p:cNvSpPr txBox="true"/>
          <p:nvPr/>
        </p:nvSpPr>
        <p:spPr>
          <a:xfrm rot="0">
            <a:off x="7217022" y="7100058"/>
            <a:ext cx="398371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All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ows limited flexibility, making adjustments less convenient to implement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78333" y="7100058"/>
            <a:ext cx="418096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Supp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orts wide flexibility, enabling customization and frequent modifications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003764" y="8301137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8" y="0"/>
                </a:lnTo>
                <a:lnTo>
                  <a:pt x="946808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1865076" y="8301137"/>
            <a:ext cx="946808" cy="1063331"/>
          </a:xfrm>
          <a:custGeom>
            <a:avLst/>
            <a:gdLst/>
            <a:ahLst/>
            <a:cxnLst/>
            <a:rect r="r" b="b" t="t" l="l"/>
            <a:pathLst>
              <a:path h="1063331" w="946808">
                <a:moveTo>
                  <a:pt x="0" y="0"/>
                </a:moveTo>
                <a:lnTo>
                  <a:pt x="946807" y="0"/>
                </a:lnTo>
                <a:lnTo>
                  <a:pt x="946807" y="1063331"/>
                </a:lnTo>
                <a:lnTo>
                  <a:pt x="0" y="1063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7217022" y="8538798"/>
            <a:ext cx="3983716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Ensu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res strong access to resources and dependable support when needed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78333" y="8538798"/>
            <a:ext cx="4180967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Pr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ovides only basic access to resources with more limited support options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003764" y="1536151"/>
            <a:ext cx="2548749" cy="567549"/>
            <a:chOff x="0" y="0"/>
            <a:chExt cx="1095521" cy="2439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5522" cy="243948"/>
            </a:xfrm>
            <a:custGeom>
              <a:avLst/>
              <a:gdLst/>
              <a:ahLst/>
              <a:cxnLst/>
              <a:rect r="r" b="b" t="t" l="l"/>
              <a:pathLst>
                <a:path h="243948" w="1095522">
                  <a:moveTo>
                    <a:pt x="121974" y="0"/>
                  </a:moveTo>
                  <a:lnTo>
                    <a:pt x="973548" y="0"/>
                  </a:lnTo>
                  <a:cubicBezTo>
                    <a:pt x="1040912" y="0"/>
                    <a:pt x="1095522" y="54610"/>
                    <a:pt x="1095522" y="121974"/>
                  </a:cubicBezTo>
                  <a:lnTo>
                    <a:pt x="1095522" y="121974"/>
                  </a:lnTo>
                  <a:cubicBezTo>
                    <a:pt x="1095522" y="154323"/>
                    <a:pt x="1082671" y="185348"/>
                    <a:pt x="1059796" y="208223"/>
                  </a:cubicBezTo>
                  <a:cubicBezTo>
                    <a:pt x="1036922" y="231097"/>
                    <a:pt x="1005897" y="243948"/>
                    <a:pt x="973548" y="243948"/>
                  </a:cubicBezTo>
                  <a:lnTo>
                    <a:pt x="121974" y="243948"/>
                  </a:lnTo>
                  <a:cubicBezTo>
                    <a:pt x="89624" y="243948"/>
                    <a:pt x="58600" y="231097"/>
                    <a:pt x="35725" y="208223"/>
                  </a:cubicBezTo>
                  <a:cubicBezTo>
                    <a:pt x="12851" y="185348"/>
                    <a:pt x="0" y="154323"/>
                    <a:pt x="0" y="121974"/>
                  </a:cubicBezTo>
                  <a:lnTo>
                    <a:pt x="0" y="121974"/>
                  </a:lnTo>
                  <a:cubicBezTo>
                    <a:pt x="0" y="89624"/>
                    <a:pt x="12851" y="58600"/>
                    <a:pt x="35725" y="35725"/>
                  </a:cubicBezTo>
                  <a:cubicBezTo>
                    <a:pt x="58600" y="12851"/>
                    <a:pt x="89624" y="0"/>
                    <a:pt x="121974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5521" cy="282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Approach One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65076" y="1536151"/>
            <a:ext cx="2548749" cy="567549"/>
            <a:chOff x="0" y="0"/>
            <a:chExt cx="1095521" cy="2439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5522" cy="243948"/>
            </a:xfrm>
            <a:custGeom>
              <a:avLst/>
              <a:gdLst/>
              <a:ahLst/>
              <a:cxnLst/>
              <a:rect r="r" b="b" t="t" l="l"/>
              <a:pathLst>
                <a:path h="243948" w="1095522">
                  <a:moveTo>
                    <a:pt x="121974" y="0"/>
                  </a:moveTo>
                  <a:lnTo>
                    <a:pt x="973548" y="0"/>
                  </a:lnTo>
                  <a:cubicBezTo>
                    <a:pt x="1040912" y="0"/>
                    <a:pt x="1095522" y="54610"/>
                    <a:pt x="1095522" y="121974"/>
                  </a:cubicBezTo>
                  <a:lnTo>
                    <a:pt x="1095522" y="121974"/>
                  </a:lnTo>
                  <a:cubicBezTo>
                    <a:pt x="1095522" y="154323"/>
                    <a:pt x="1082671" y="185348"/>
                    <a:pt x="1059796" y="208223"/>
                  </a:cubicBezTo>
                  <a:cubicBezTo>
                    <a:pt x="1036922" y="231097"/>
                    <a:pt x="1005897" y="243948"/>
                    <a:pt x="973548" y="243948"/>
                  </a:cubicBezTo>
                  <a:lnTo>
                    <a:pt x="121974" y="243948"/>
                  </a:lnTo>
                  <a:cubicBezTo>
                    <a:pt x="89624" y="243948"/>
                    <a:pt x="58600" y="231097"/>
                    <a:pt x="35725" y="208223"/>
                  </a:cubicBezTo>
                  <a:cubicBezTo>
                    <a:pt x="12851" y="185348"/>
                    <a:pt x="0" y="154323"/>
                    <a:pt x="0" y="121974"/>
                  </a:cubicBezTo>
                  <a:lnTo>
                    <a:pt x="0" y="121974"/>
                  </a:lnTo>
                  <a:cubicBezTo>
                    <a:pt x="0" y="89624"/>
                    <a:pt x="12851" y="58600"/>
                    <a:pt x="35725" y="35725"/>
                  </a:cubicBezTo>
                  <a:cubicBezTo>
                    <a:pt x="58600" y="12851"/>
                    <a:pt x="89624" y="0"/>
                    <a:pt x="121974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5521" cy="282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122359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Approach Two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968075" y="8563904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29387" y="8563904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68075" y="7125164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29387" y="7125164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68075" y="5686425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29387" y="5686425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968075" y="4250813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29387" y="4250813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968075" y="2812073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29387" y="2812073"/>
            <a:ext cx="101818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8000" y="2614617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8000" y="5390266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61146" y="1334270"/>
            <a:ext cx="4459235" cy="1946145"/>
            <a:chOff x="0" y="0"/>
            <a:chExt cx="1174449" cy="51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4449" cy="512565"/>
            </a:xfrm>
            <a:custGeom>
              <a:avLst/>
              <a:gdLst/>
              <a:ahLst/>
              <a:cxnLst/>
              <a:rect r="r" b="b" t="t" l="l"/>
              <a:pathLst>
                <a:path h="512565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77842"/>
                  </a:lnTo>
                  <a:cubicBezTo>
                    <a:pt x="1174449" y="487051"/>
                    <a:pt x="1170791" y="495883"/>
                    <a:pt x="1164279" y="502395"/>
                  </a:cubicBezTo>
                  <a:cubicBezTo>
                    <a:pt x="1157767" y="508907"/>
                    <a:pt x="1148935" y="512565"/>
                    <a:pt x="1139726" y="512565"/>
                  </a:cubicBezTo>
                  <a:lnTo>
                    <a:pt x="34723" y="512565"/>
                  </a:lnTo>
                  <a:cubicBezTo>
                    <a:pt x="25514" y="512565"/>
                    <a:pt x="16682" y="508907"/>
                    <a:pt x="10170" y="502395"/>
                  </a:cubicBezTo>
                  <a:cubicBezTo>
                    <a:pt x="3658" y="495883"/>
                    <a:pt x="0" y="487051"/>
                    <a:pt x="0" y="477842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174449" cy="55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61146" y="4109918"/>
            <a:ext cx="4459235" cy="1946145"/>
            <a:chOff x="0" y="0"/>
            <a:chExt cx="1174449" cy="512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4449" cy="512565"/>
            </a:xfrm>
            <a:custGeom>
              <a:avLst/>
              <a:gdLst/>
              <a:ahLst/>
              <a:cxnLst/>
              <a:rect r="r" b="b" t="t" l="l"/>
              <a:pathLst>
                <a:path h="512565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77842"/>
                  </a:lnTo>
                  <a:cubicBezTo>
                    <a:pt x="1174449" y="487051"/>
                    <a:pt x="1170791" y="495883"/>
                    <a:pt x="1164279" y="502395"/>
                  </a:cubicBezTo>
                  <a:cubicBezTo>
                    <a:pt x="1157767" y="508907"/>
                    <a:pt x="1148935" y="512565"/>
                    <a:pt x="1139726" y="512565"/>
                  </a:cubicBezTo>
                  <a:lnTo>
                    <a:pt x="34723" y="512565"/>
                  </a:lnTo>
                  <a:cubicBezTo>
                    <a:pt x="25514" y="512565"/>
                    <a:pt x="16682" y="508907"/>
                    <a:pt x="10170" y="502395"/>
                  </a:cubicBezTo>
                  <a:cubicBezTo>
                    <a:pt x="3658" y="495883"/>
                    <a:pt x="0" y="487051"/>
                    <a:pt x="0" y="477842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74449" cy="55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858000" y="8165914"/>
            <a:ext cx="4462381" cy="884363"/>
          </a:xfrm>
          <a:custGeom>
            <a:avLst/>
            <a:gdLst/>
            <a:ahLst/>
            <a:cxnLst/>
            <a:rect r="r" b="b" t="t" l="l"/>
            <a:pathLst>
              <a:path h="884363" w="4462381">
                <a:moveTo>
                  <a:pt x="0" y="0"/>
                </a:moveTo>
                <a:lnTo>
                  <a:pt x="4462381" y="0"/>
                </a:lnTo>
                <a:lnTo>
                  <a:pt x="4462381" y="884363"/>
                </a:lnTo>
                <a:lnTo>
                  <a:pt x="0" y="88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861146" y="6885567"/>
            <a:ext cx="4459235" cy="1946145"/>
            <a:chOff x="0" y="0"/>
            <a:chExt cx="1174449" cy="5125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74449" cy="512565"/>
            </a:xfrm>
            <a:custGeom>
              <a:avLst/>
              <a:gdLst/>
              <a:ahLst/>
              <a:cxnLst/>
              <a:rect r="r" b="b" t="t" l="l"/>
              <a:pathLst>
                <a:path h="512565" w="1174449">
                  <a:moveTo>
                    <a:pt x="34723" y="0"/>
                  </a:moveTo>
                  <a:lnTo>
                    <a:pt x="1139726" y="0"/>
                  </a:lnTo>
                  <a:cubicBezTo>
                    <a:pt x="1158903" y="0"/>
                    <a:pt x="1174449" y="15546"/>
                    <a:pt x="1174449" y="34723"/>
                  </a:cubicBezTo>
                  <a:lnTo>
                    <a:pt x="1174449" y="477842"/>
                  </a:lnTo>
                  <a:cubicBezTo>
                    <a:pt x="1174449" y="487051"/>
                    <a:pt x="1170791" y="495883"/>
                    <a:pt x="1164279" y="502395"/>
                  </a:cubicBezTo>
                  <a:cubicBezTo>
                    <a:pt x="1157767" y="508907"/>
                    <a:pt x="1148935" y="512565"/>
                    <a:pt x="1139726" y="512565"/>
                  </a:cubicBezTo>
                  <a:lnTo>
                    <a:pt x="34723" y="512565"/>
                  </a:lnTo>
                  <a:cubicBezTo>
                    <a:pt x="25514" y="512565"/>
                    <a:pt x="16682" y="508907"/>
                    <a:pt x="10170" y="502395"/>
                  </a:cubicBezTo>
                  <a:cubicBezTo>
                    <a:pt x="3658" y="495883"/>
                    <a:pt x="0" y="487051"/>
                    <a:pt x="0" y="477842"/>
                  </a:cubicBezTo>
                  <a:lnTo>
                    <a:pt x="0" y="34723"/>
                  </a:lnTo>
                  <a:cubicBezTo>
                    <a:pt x="0" y="25514"/>
                    <a:pt x="3658" y="16682"/>
                    <a:pt x="10170" y="10170"/>
                  </a:cubicBezTo>
                  <a:cubicBezTo>
                    <a:pt x="16682" y="3658"/>
                    <a:pt x="25514" y="0"/>
                    <a:pt x="3472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74449" cy="550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7714" y="1236723"/>
            <a:ext cx="3086100" cy="195093"/>
            <a:chOff x="0" y="0"/>
            <a:chExt cx="812800" cy="513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47714" y="4012371"/>
            <a:ext cx="3086100" cy="195093"/>
            <a:chOff x="0" y="0"/>
            <a:chExt cx="812800" cy="513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7714" y="6788020"/>
            <a:ext cx="3086100" cy="195093"/>
            <a:chOff x="0" y="0"/>
            <a:chExt cx="812800" cy="513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52492" y="1443552"/>
            <a:ext cx="1484639" cy="1727579"/>
            <a:chOff x="0" y="0"/>
            <a:chExt cx="6985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12088"/>
              <a:ext cx="698500" cy="788624"/>
            </a:xfrm>
            <a:custGeom>
              <a:avLst/>
              <a:gdLst/>
              <a:ahLst/>
              <a:cxnLst/>
              <a:rect r="r" b="b" t="t" l="l"/>
              <a:pathLst>
                <a:path h="788624" w="698500">
                  <a:moveTo>
                    <a:pt x="387985" y="10449"/>
                  </a:moveTo>
                  <a:lnTo>
                    <a:pt x="659765" y="168575"/>
                  </a:lnTo>
                  <a:cubicBezTo>
                    <a:pt x="683747" y="182528"/>
                    <a:pt x="698500" y="208181"/>
                    <a:pt x="698500" y="235926"/>
                  </a:cubicBezTo>
                  <a:lnTo>
                    <a:pt x="698500" y="552698"/>
                  </a:lnTo>
                  <a:cubicBezTo>
                    <a:pt x="698500" y="580443"/>
                    <a:pt x="683747" y="606096"/>
                    <a:pt x="659765" y="620049"/>
                  </a:cubicBezTo>
                  <a:lnTo>
                    <a:pt x="387985" y="778175"/>
                  </a:lnTo>
                  <a:cubicBezTo>
                    <a:pt x="364040" y="792107"/>
                    <a:pt x="334460" y="792107"/>
                    <a:pt x="310515" y="778175"/>
                  </a:cubicBezTo>
                  <a:lnTo>
                    <a:pt x="38735" y="620049"/>
                  </a:lnTo>
                  <a:cubicBezTo>
                    <a:pt x="14753" y="606096"/>
                    <a:pt x="0" y="580443"/>
                    <a:pt x="0" y="552698"/>
                  </a:cubicBezTo>
                  <a:lnTo>
                    <a:pt x="0" y="235926"/>
                  </a:lnTo>
                  <a:cubicBezTo>
                    <a:pt x="0" y="208181"/>
                    <a:pt x="14753" y="182528"/>
                    <a:pt x="38735" y="168575"/>
                  </a:cubicBezTo>
                  <a:lnTo>
                    <a:pt x="310515" y="10449"/>
                  </a:lnTo>
                  <a:cubicBezTo>
                    <a:pt x="334460" y="-3483"/>
                    <a:pt x="364040" y="-3483"/>
                    <a:pt x="387985" y="10449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52492" y="4219201"/>
            <a:ext cx="1484639" cy="1727579"/>
            <a:chOff x="0" y="0"/>
            <a:chExt cx="6985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12088"/>
              <a:ext cx="698500" cy="788624"/>
            </a:xfrm>
            <a:custGeom>
              <a:avLst/>
              <a:gdLst/>
              <a:ahLst/>
              <a:cxnLst/>
              <a:rect r="r" b="b" t="t" l="l"/>
              <a:pathLst>
                <a:path h="788624" w="698500">
                  <a:moveTo>
                    <a:pt x="387985" y="10449"/>
                  </a:moveTo>
                  <a:lnTo>
                    <a:pt x="659765" y="168575"/>
                  </a:lnTo>
                  <a:cubicBezTo>
                    <a:pt x="683747" y="182528"/>
                    <a:pt x="698500" y="208181"/>
                    <a:pt x="698500" y="235926"/>
                  </a:cubicBezTo>
                  <a:lnTo>
                    <a:pt x="698500" y="552698"/>
                  </a:lnTo>
                  <a:cubicBezTo>
                    <a:pt x="698500" y="580443"/>
                    <a:pt x="683747" y="606096"/>
                    <a:pt x="659765" y="620049"/>
                  </a:cubicBezTo>
                  <a:lnTo>
                    <a:pt x="387985" y="778175"/>
                  </a:lnTo>
                  <a:cubicBezTo>
                    <a:pt x="364040" y="792107"/>
                    <a:pt x="334460" y="792107"/>
                    <a:pt x="310515" y="778175"/>
                  </a:cubicBezTo>
                  <a:lnTo>
                    <a:pt x="38735" y="620049"/>
                  </a:lnTo>
                  <a:cubicBezTo>
                    <a:pt x="14753" y="606096"/>
                    <a:pt x="0" y="580443"/>
                    <a:pt x="0" y="552698"/>
                  </a:cubicBezTo>
                  <a:lnTo>
                    <a:pt x="0" y="235926"/>
                  </a:lnTo>
                  <a:cubicBezTo>
                    <a:pt x="0" y="208181"/>
                    <a:pt x="14753" y="182528"/>
                    <a:pt x="38735" y="168575"/>
                  </a:cubicBezTo>
                  <a:lnTo>
                    <a:pt x="310515" y="10449"/>
                  </a:lnTo>
                  <a:cubicBezTo>
                    <a:pt x="334460" y="-3483"/>
                    <a:pt x="364040" y="-3483"/>
                    <a:pt x="387985" y="10449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52492" y="6994850"/>
            <a:ext cx="1484639" cy="1727579"/>
            <a:chOff x="0" y="0"/>
            <a:chExt cx="6985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12088"/>
              <a:ext cx="698500" cy="788624"/>
            </a:xfrm>
            <a:custGeom>
              <a:avLst/>
              <a:gdLst/>
              <a:ahLst/>
              <a:cxnLst/>
              <a:rect r="r" b="b" t="t" l="l"/>
              <a:pathLst>
                <a:path h="788624" w="698500">
                  <a:moveTo>
                    <a:pt x="387985" y="10449"/>
                  </a:moveTo>
                  <a:lnTo>
                    <a:pt x="659765" y="168575"/>
                  </a:lnTo>
                  <a:cubicBezTo>
                    <a:pt x="683747" y="182528"/>
                    <a:pt x="698500" y="208181"/>
                    <a:pt x="698500" y="235926"/>
                  </a:cubicBezTo>
                  <a:lnTo>
                    <a:pt x="698500" y="552698"/>
                  </a:lnTo>
                  <a:cubicBezTo>
                    <a:pt x="698500" y="580443"/>
                    <a:pt x="683747" y="606096"/>
                    <a:pt x="659765" y="620049"/>
                  </a:cubicBezTo>
                  <a:lnTo>
                    <a:pt x="387985" y="778175"/>
                  </a:lnTo>
                  <a:cubicBezTo>
                    <a:pt x="364040" y="792107"/>
                    <a:pt x="334460" y="792107"/>
                    <a:pt x="310515" y="778175"/>
                  </a:cubicBezTo>
                  <a:lnTo>
                    <a:pt x="38735" y="620049"/>
                  </a:lnTo>
                  <a:cubicBezTo>
                    <a:pt x="14753" y="606096"/>
                    <a:pt x="0" y="580443"/>
                    <a:pt x="0" y="552698"/>
                  </a:cubicBezTo>
                  <a:lnTo>
                    <a:pt x="0" y="235926"/>
                  </a:lnTo>
                  <a:cubicBezTo>
                    <a:pt x="0" y="208181"/>
                    <a:pt x="14753" y="182528"/>
                    <a:pt x="38735" y="168575"/>
                  </a:cubicBezTo>
                  <a:lnTo>
                    <a:pt x="310515" y="10449"/>
                  </a:lnTo>
                  <a:cubicBezTo>
                    <a:pt x="334460" y="-3483"/>
                    <a:pt x="364040" y="-3483"/>
                    <a:pt x="387985" y="10449"/>
                  </a:cubicBez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>
            <a:off x="4141574" y="2307342"/>
            <a:ext cx="1610918" cy="2794699"/>
          </a:xfrm>
          <a:custGeom>
            <a:avLst/>
            <a:gdLst/>
            <a:ahLst/>
            <a:cxnLst/>
            <a:rect r="r" b="b" t="t" l="l"/>
            <a:pathLst>
              <a:path h="2794699" w="1610918">
                <a:moveTo>
                  <a:pt x="0" y="2794699"/>
                </a:moveTo>
                <a:lnTo>
                  <a:pt x="753859" y="2794699"/>
                </a:lnTo>
                <a:cubicBezTo>
                  <a:pt x="880112" y="2794699"/>
                  <a:pt x="982459" y="2692351"/>
                  <a:pt x="982459" y="2566099"/>
                </a:cubicBezTo>
                <a:lnTo>
                  <a:pt x="982459" y="228600"/>
                </a:lnTo>
                <a:cubicBezTo>
                  <a:pt x="982459" y="102348"/>
                  <a:pt x="1084807" y="0"/>
                  <a:pt x="1211059" y="0"/>
                </a:cubicBezTo>
                <a:lnTo>
                  <a:pt x="1610918" y="0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4141574" y="5082991"/>
            <a:ext cx="1610918" cy="0"/>
          </a:xfrm>
          <a:prstGeom prst="line">
            <a:avLst/>
          </a:pr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>
            <a:off x="4141574" y="5102041"/>
            <a:ext cx="1610918" cy="2756599"/>
          </a:xfrm>
          <a:custGeom>
            <a:avLst/>
            <a:gdLst/>
            <a:ahLst/>
            <a:cxnLst/>
            <a:rect r="r" b="b" t="t" l="l"/>
            <a:pathLst>
              <a:path h="2756599" w="1610918">
                <a:moveTo>
                  <a:pt x="0" y="0"/>
                </a:moveTo>
                <a:lnTo>
                  <a:pt x="753859" y="0"/>
                </a:lnTo>
                <a:cubicBezTo>
                  <a:pt x="880112" y="0"/>
                  <a:pt x="982459" y="102347"/>
                  <a:pt x="982459" y="228600"/>
                </a:cubicBezTo>
                <a:lnTo>
                  <a:pt x="982459" y="2527999"/>
                </a:lnTo>
                <a:cubicBezTo>
                  <a:pt x="982459" y="2654251"/>
                  <a:pt x="1084807" y="2756599"/>
                  <a:pt x="1211059" y="2756599"/>
                </a:cubicBezTo>
                <a:lnTo>
                  <a:pt x="1610918" y="2756599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2881392" y="1224398"/>
            <a:ext cx="3955217" cy="942440"/>
            <a:chOff x="0" y="0"/>
            <a:chExt cx="1041703" cy="2482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1703" cy="248215"/>
            </a:xfrm>
            <a:custGeom>
              <a:avLst/>
              <a:gdLst/>
              <a:ahLst/>
              <a:cxnLst/>
              <a:rect r="r" b="b" t="t" l="l"/>
              <a:pathLst>
                <a:path h="248215" w="1041703">
                  <a:moveTo>
                    <a:pt x="35233" y="0"/>
                  </a:moveTo>
                  <a:lnTo>
                    <a:pt x="1006470" y="0"/>
                  </a:lnTo>
                  <a:cubicBezTo>
                    <a:pt x="1015814" y="0"/>
                    <a:pt x="1024776" y="3712"/>
                    <a:pt x="1031384" y="10320"/>
                  </a:cubicBezTo>
                  <a:cubicBezTo>
                    <a:pt x="1037991" y="16927"/>
                    <a:pt x="1041703" y="25889"/>
                    <a:pt x="1041703" y="35233"/>
                  </a:cubicBezTo>
                  <a:lnTo>
                    <a:pt x="1041703" y="212982"/>
                  </a:lnTo>
                  <a:cubicBezTo>
                    <a:pt x="1041703" y="222326"/>
                    <a:pt x="1037991" y="231288"/>
                    <a:pt x="1031384" y="237895"/>
                  </a:cubicBezTo>
                  <a:cubicBezTo>
                    <a:pt x="1024776" y="244503"/>
                    <a:pt x="1015814" y="248215"/>
                    <a:pt x="1006470" y="248215"/>
                  </a:cubicBezTo>
                  <a:lnTo>
                    <a:pt x="35233" y="248215"/>
                  </a:lnTo>
                  <a:cubicBezTo>
                    <a:pt x="25889" y="248215"/>
                    <a:pt x="16927" y="244503"/>
                    <a:pt x="10320" y="237895"/>
                  </a:cubicBezTo>
                  <a:cubicBezTo>
                    <a:pt x="3712" y="231288"/>
                    <a:pt x="0" y="222326"/>
                    <a:pt x="0" y="212982"/>
                  </a:cubicBezTo>
                  <a:lnTo>
                    <a:pt x="0" y="35233"/>
                  </a:lnTo>
                  <a:cubicBezTo>
                    <a:pt x="0" y="25889"/>
                    <a:pt x="3712" y="16927"/>
                    <a:pt x="10320" y="10320"/>
                  </a:cubicBezTo>
                  <a:cubicBezTo>
                    <a:pt x="16927" y="3712"/>
                    <a:pt x="25889" y="0"/>
                    <a:pt x="35233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1703" cy="286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Define core problems the</a:t>
              </a:r>
            </a:p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product must solve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881392" y="2447846"/>
            <a:ext cx="3955217" cy="942440"/>
            <a:chOff x="0" y="0"/>
            <a:chExt cx="1041703" cy="2482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1703" cy="248215"/>
            </a:xfrm>
            <a:custGeom>
              <a:avLst/>
              <a:gdLst/>
              <a:ahLst/>
              <a:cxnLst/>
              <a:rect r="r" b="b" t="t" l="l"/>
              <a:pathLst>
                <a:path h="248215" w="1041703">
                  <a:moveTo>
                    <a:pt x="35233" y="0"/>
                  </a:moveTo>
                  <a:lnTo>
                    <a:pt x="1006470" y="0"/>
                  </a:lnTo>
                  <a:cubicBezTo>
                    <a:pt x="1015814" y="0"/>
                    <a:pt x="1024776" y="3712"/>
                    <a:pt x="1031384" y="10320"/>
                  </a:cubicBezTo>
                  <a:cubicBezTo>
                    <a:pt x="1037991" y="16927"/>
                    <a:pt x="1041703" y="25889"/>
                    <a:pt x="1041703" y="35233"/>
                  </a:cubicBezTo>
                  <a:lnTo>
                    <a:pt x="1041703" y="212982"/>
                  </a:lnTo>
                  <a:cubicBezTo>
                    <a:pt x="1041703" y="222326"/>
                    <a:pt x="1037991" y="231288"/>
                    <a:pt x="1031384" y="237895"/>
                  </a:cubicBezTo>
                  <a:cubicBezTo>
                    <a:pt x="1024776" y="244503"/>
                    <a:pt x="1015814" y="248215"/>
                    <a:pt x="1006470" y="248215"/>
                  </a:cubicBezTo>
                  <a:lnTo>
                    <a:pt x="35233" y="248215"/>
                  </a:lnTo>
                  <a:cubicBezTo>
                    <a:pt x="25889" y="248215"/>
                    <a:pt x="16927" y="244503"/>
                    <a:pt x="10320" y="237895"/>
                  </a:cubicBezTo>
                  <a:cubicBezTo>
                    <a:pt x="3712" y="231288"/>
                    <a:pt x="0" y="222326"/>
                    <a:pt x="0" y="212982"/>
                  </a:cubicBezTo>
                  <a:lnTo>
                    <a:pt x="0" y="35233"/>
                  </a:lnTo>
                  <a:cubicBezTo>
                    <a:pt x="0" y="25889"/>
                    <a:pt x="3712" y="16927"/>
                    <a:pt x="10320" y="10320"/>
                  </a:cubicBezTo>
                  <a:cubicBezTo>
                    <a:pt x="16927" y="3712"/>
                    <a:pt x="25889" y="0"/>
                    <a:pt x="35233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41703" cy="286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Clarify priority functions before</a:t>
              </a:r>
            </a:p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moving to other features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881392" y="4006209"/>
            <a:ext cx="3955217" cy="942440"/>
            <a:chOff x="0" y="0"/>
            <a:chExt cx="1041703" cy="2482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1703" cy="248215"/>
            </a:xfrm>
            <a:custGeom>
              <a:avLst/>
              <a:gdLst/>
              <a:ahLst/>
              <a:cxnLst/>
              <a:rect r="r" b="b" t="t" l="l"/>
              <a:pathLst>
                <a:path h="248215" w="1041703">
                  <a:moveTo>
                    <a:pt x="35233" y="0"/>
                  </a:moveTo>
                  <a:lnTo>
                    <a:pt x="1006470" y="0"/>
                  </a:lnTo>
                  <a:cubicBezTo>
                    <a:pt x="1015814" y="0"/>
                    <a:pt x="1024776" y="3712"/>
                    <a:pt x="1031384" y="10320"/>
                  </a:cubicBezTo>
                  <a:cubicBezTo>
                    <a:pt x="1037991" y="16927"/>
                    <a:pt x="1041703" y="25889"/>
                    <a:pt x="1041703" y="35233"/>
                  </a:cubicBezTo>
                  <a:lnTo>
                    <a:pt x="1041703" y="212982"/>
                  </a:lnTo>
                  <a:cubicBezTo>
                    <a:pt x="1041703" y="222326"/>
                    <a:pt x="1037991" y="231288"/>
                    <a:pt x="1031384" y="237895"/>
                  </a:cubicBezTo>
                  <a:cubicBezTo>
                    <a:pt x="1024776" y="244503"/>
                    <a:pt x="1015814" y="248215"/>
                    <a:pt x="1006470" y="248215"/>
                  </a:cubicBezTo>
                  <a:lnTo>
                    <a:pt x="35233" y="248215"/>
                  </a:lnTo>
                  <a:cubicBezTo>
                    <a:pt x="25889" y="248215"/>
                    <a:pt x="16927" y="244503"/>
                    <a:pt x="10320" y="237895"/>
                  </a:cubicBezTo>
                  <a:cubicBezTo>
                    <a:pt x="3712" y="231288"/>
                    <a:pt x="0" y="222326"/>
                    <a:pt x="0" y="212982"/>
                  </a:cubicBezTo>
                  <a:lnTo>
                    <a:pt x="0" y="35233"/>
                  </a:lnTo>
                  <a:cubicBezTo>
                    <a:pt x="0" y="25889"/>
                    <a:pt x="3712" y="16927"/>
                    <a:pt x="10320" y="10320"/>
                  </a:cubicBezTo>
                  <a:cubicBezTo>
                    <a:pt x="16927" y="3712"/>
                    <a:pt x="25889" y="0"/>
                    <a:pt x="35233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41703" cy="286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Compare different options based</a:t>
              </a:r>
            </a:p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on functionality and usability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81392" y="5229657"/>
            <a:ext cx="3955217" cy="942440"/>
            <a:chOff x="0" y="0"/>
            <a:chExt cx="1041703" cy="24821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1703" cy="248215"/>
            </a:xfrm>
            <a:custGeom>
              <a:avLst/>
              <a:gdLst/>
              <a:ahLst/>
              <a:cxnLst/>
              <a:rect r="r" b="b" t="t" l="l"/>
              <a:pathLst>
                <a:path h="248215" w="1041703">
                  <a:moveTo>
                    <a:pt x="35233" y="0"/>
                  </a:moveTo>
                  <a:lnTo>
                    <a:pt x="1006470" y="0"/>
                  </a:lnTo>
                  <a:cubicBezTo>
                    <a:pt x="1015814" y="0"/>
                    <a:pt x="1024776" y="3712"/>
                    <a:pt x="1031384" y="10320"/>
                  </a:cubicBezTo>
                  <a:cubicBezTo>
                    <a:pt x="1037991" y="16927"/>
                    <a:pt x="1041703" y="25889"/>
                    <a:pt x="1041703" y="35233"/>
                  </a:cubicBezTo>
                  <a:lnTo>
                    <a:pt x="1041703" y="212982"/>
                  </a:lnTo>
                  <a:cubicBezTo>
                    <a:pt x="1041703" y="222326"/>
                    <a:pt x="1037991" y="231288"/>
                    <a:pt x="1031384" y="237895"/>
                  </a:cubicBezTo>
                  <a:cubicBezTo>
                    <a:pt x="1024776" y="244503"/>
                    <a:pt x="1015814" y="248215"/>
                    <a:pt x="1006470" y="248215"/>
                  </a:cubicBezTo>
                  <a:lnTo>
                    <a:pt x="35233" y="248215"/>
                  </a:lnTo>
                  <a:cubicBezTo>
                    <a:pt x="25889" y="248215"/>
                    <a:pt x="16927" y="244503"/>
                    <a:pt x="10320" y="237895"/>
                  </a:cubicBezTo>
                  <a:cubicBezTo>
                    <a:pt x="3712" y="231288"/>
                    <a:pt x="0" y="222326"/>
                    <a:pt x="0" y="212982"/>
                  </a:cubicBezTo>
                  <a:lnTo>
                    <a:pt x="0" y="35233"/>
                  </a:lnTo>
                  <a:cubicBezTo>
                    <a:pt x="0" y="25889"/>
                    <a:pt x="3712" y="16927"/>
                    <a:pt x="10320" y="10320"/>
                  </a:cubicBezTo>
                  <a:cubicBezTo>
                    <a:pt x="16927" y="3712"/>
                    <a:pt x="25889" y="0"/>
                    <a:pt x="35233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1703" cy="286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Match the feature set with</a:t>
              </a:r>
            </a:p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performance and cost expectations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81392" y="6788020"/>
            <a:ext cx="3955217" cy="942440"/>
            <a:chOff x="0" y="0"/>
            <a:chExt cx="1041703" cy="2482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1703" cy="248215"/>
            </a:xfrm>
            <a:custGeom>
              <a:avLst/>
              <a:gdLst/>
              <a:ahLst/>
              <a:cxnLst/>
              <a:rect r="r" b="b" t="t" l="l"/>
              <a:pathLst>
                <a:path h="248215" w="1041703">
                  <a:moveTo>
                    <a:pt x="35233" y="0"/>
                  </a:moveTo>
                  <a:lnTo>
                    <a:pt x="1006470" y="0"/>
                  </a:lnTo>
                  <a:cubicBezTo>
                    <a:pt x="1015814" y="0"/>
                    <a:pt x="1024776" y="3712"/>
                    <a:pt x="1031384" y="10320"/>
                  </a:cubicBezTo>
                  <a:cubicBezTo>
                    <a:pt x="1037991" y="16927"/>
                    <a:pt x="1041703" y="25889"/>
                    <a:pt x="1041703" y="35233"/>
                  </a:cubicBezTo>
                  <a:lnTo>
                    <a:pt x="1041703" y="212982"/>
                  </a:lnTo>
                  <a:cubicBezTo>
                    <a:pt x="1041703" y="222326"/>
                    <a:pt x="1037991" y="231288"/>
                    <a:pt x="1031384" y="237895"/>
                  </a:cubicBezTo>
                  <a:cubicBezTo>
                    <a:pt x="1024776" y="244503"/>
                    <a:pt x="1015814" y="248215"/>
                    <a:pt x="1006470" y="248215"/>
                  </a:cubicBezTo>
                  <a:lnTo>
                    <a:pt x="35233" y="248215"/>
                  </a:lnTo>
                  <a:cubicBezTo>
                    <a:pt x="25889" y="248215"/>
                    <a:pt x="16927" y="244503"/>
                    <a:pt x="10320" y="237895"/>
                  </a:cubicBezTo>
                  <a:cubicBezTo>
                    <a:pt x="3712" y="231288"/>
                    <a:pt x="0" y="222326"/>
                    <a:pt x="0" y="212982"/>
                  </a:cubicBezTo>
                  <a:lnTo>
                    <a:pt x="0" y="35233"/>
                  </a:lnTo>
                  <a:cubicBezTo>
                    <a:pt x="0" y="25889"/>
                    <a:pt x="3712" y="16927"/>
                    <a:pt x="10320" y="10320"/>
                  </a:cubicBezTo>
                  <a:cubicBezTo>
                    <a:pt x="16927" y="3712"/>
                    <a:pt x="25889" y="0"/>
                    <a:pt x="35233" y="0"/>
                  </a:cubicBez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41703" cy="286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Va</a:t>
              </a:r>
              <a:r>
                <a:rPr lang="en-US" sz="16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lidate that the final choice</a:t>
              </a:r>
            </a:p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delivers consistent value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881392" y="8011468"/>
            <a:ext cx="3955217" cy="942440"/>
            <a:chOff x="0" y="0"/>
            <a:chExt cx="1041703" cy="24821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1703" cy="248215"/>
            </a:xfrm>
            <a:custGeom>
              <a:avLst/>
              <a:gdLst/>
              <a:ahLst/>
              <a:cxnLst/>
              <a:rect r="r" b="b" t="t" l="l"/>
              <a:pathLst>
                <a:path h="248215" w="1041703">
                  <a:moveTo>
                    <a:pt x="35233" y="0"/>
                  </a:moveTo>
                  <a:lnTo>
                    <a:pt x="1006470" y="0"/>
                  </a:lnTo>
                  <a:cubicBezTo>
                    <a:pt x="1015814" y="0"/>
                    <a:pt x="1024776" y="3712"/>
                    <a:pt x="1031384" y="10320"/>
                  </a:cubicBezTo>
                  <a:cubicBezTo>
                    <a:pt x="1037991" y="16927"/>
                    <a:pt x="1041703" y="25889"/>
                    <a:pt x="1041703" y="35233"/>
                  </a:cubicBezTo>
                  <a:lnTo>
                    <a:pt x="1041703" y="212982"/>
                  </a:lnTo>
                  <a:cubicBezTo>
                    <a:pt x="1041703" y="222326"/>
                    <a:pt x="1037991" y="231288"/>
                    <a:pt x="1031384" y="237895"/>
                  </a:cubicBezTo>
                  <a:cubicBezTo>
                    <a:pt x="1024776" y="244503"/>
                    <a:pt x="1015814" y="248215"/>
                    <a:pt x="1006470" y="248215"/>
                  </a:cubicBezTo>
                  <a:lnTo>
                    <a:pt x="35233" y="248215"/>
                  </a:lnTo>
                  <a:cubicBezTo>
                    <a:pt x="25889" y="248215"/>
                    <a:pt x="16927" y="244503"/>
                    <a:pt x="10320" y="237895"/>
                  </a:cubicBezTo>
                  <a:cubicBezTo>
                    <a:pt x="3712" y="231288"/>
                    <a:pt x="0" y="222326"/>
                    <a:pt x="0" y="212982"/>
                  </a:cubicBezTo>
                  <a:lnTo>
                    <a:pt x="0" y="35233"/>
                  </a:lnTo>
                  <a:cubicBezTo>
                    <a:pt x="0" y="25889"/>
                    <a:pt x="3712" y="16927"/>
                    <a:pt x="10320" y="10320"/>
                  </a:cubicBezTo>
                  <a:cubicBezTo>
                    <a:pt x="16927" y="3712"/>
                    <a:pt x="25889" y="0"/>
                    <a:pt x="35233" y="0"/>
                  </a:cubicBezTo>
                  <a:close/>
                </a:path>
              </a:pathLst>
            </a:custGeom>
            <a:solidFill>
              <a:srgbClr val="F68D5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41703" cy="286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Ensu</a:t>
              </a:r>
              <a:r>
                <a:rPr lang="en-US" sz="16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re the decision aligns with</a:t>
              </a:r>
            </a:p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TT Fors"/>
                  <a:ea typeface="TT Fors"/>
                  <a:cs typeface="TT Fors"/>
                  <a:sym typeface="TT Fors"/>
                </a:rPr>
                <a:t>long-term goals and user benefit</a:t>
              </a:r>
            </a:p>
          </p:txBody>
        </p:sp>
      </p:grpSp>
      <p:sp>
        <p:nvSpPr>
          <p:cNvPr name="Freeform 53" id="53"/>
          <p:cNvSpPr/>
          <p:nvPr/>
        </p:nvSpPr>
        <p:spPr>
          <a:xfrm>
            <a:off x="11320381" y="1695618"/>
            <a:ext cx="1561011" cy="611724"/>
          </a:xfrm>
          <a:custGeom>
            <a:avLst/>
            <a:gdLst/>
            <a:ahLst/>
            <a:cxnLst/>
            <a:rect r="r" b="b" t="t" l="l"/>
            <a:pathLst>
              <a:path h="611724" w="1561011">
                <a:moveTo>
                  <a:pt x="0" y="611724"/>
                </a:moveTo>
                <a:lnTo>
                  <a:pt x="534017" y="611724"/>
                </a:lnTo>
                <a:cubicBezTo>
                  <a:pt x="660269" y="611724"/>
                  <a:pt x="762617" y="509376"/>
                  <a:pt x="762617" y="383124"/>
                </a:cubicBezTo>
                <a:lnTo>
                  <a:pt x="762617" y="228600"/>
                </a:lnTo>
                <a:cubicBezTo>
                  <a:pt x="762617" y="102348"/>
                  <a:pt x="864965" y="0"/>
                  <a:pt x="991217" y="0"/>
                </a:cubicBezTo>
                <a:lnTo>
                  <a:pt x="1561011" y="0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4" id="54"/>
          <p:cNvSpPr/>
          <p:nvPr/>
        </p:nvSpPr>
        <p:spPr>
          <a:xfrm>
            <a:off x="11320381" y="2307342"/>
            <a:ext cx="1561011" cy="611724"/>
          </a:xfrm>
          <a:custGeom>
            <a:avLst/>
            <a:gdLst/>
            <a:ahLst/>
            <a:cxnLst/>
            <a:rect r="r" b="b" t="t" l="l"/>
            <a:pathLst>
              <a:path h="611724" w="1561011">
                <a:moveTo>
                  <a:pt x="0" y="0"/>
                </a:moveTo>
                <a:lnTo>
                  <a:pt x="534017" y="0"/>
                </a:lnTo>
                <a:cubicBezTo>
                  <a:pt x="660269" y="0"/>
                  <a:pt x="762617" y="102348"/>
                  <a:pt x="762617" y="228600"/>
                </a:cubicBezTo>
                <a:lnTo>
                  <a:pt x="762617" y="383124"/>
                </a:lnTo>
                <a:cubicBezTo>
                  <a:pt x="762617" y="443752"/>
                  <a:pt x="786702" y="501898"/>
                  <a:pt x="829573" y="544768"/>
                </a:cubicBezTo>
                <a:cubicBezTo>
                  <a:pt x="872443" y="587639"/>
                  <a:pt x="930588" y="611724"/>
                  <a:pt x="991217" y="611724"/>
                </a:cubicBezTo>
                <a:lnTo>
                  <a:pt x="1561011" y="611724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>
            <a:off x="11320381" y="4477429"/>
            <a:ext cx="1561011" cy="605561"/>
          </a:xfrm>
          <a:custGeom>
            <a:avLst/>
            <a:gdLst/>
            <a:ahLst/>
            <a:cxnLst/>
            <a:rect r="r" b="b" t="t" l="l"/>
            <a:pathLst>
              <a:path h="605561" w="1561011">
                <a:moveTo>
                  <a:pt x="0" y="605562"/>
                </a:moveTo>
                <a:lnTo>
                  <a:pt x="534017" y="605562"/>
                </a:lnTo>
                <a:cubicBezTo>
                  <a:pt x="660269" y="605562"/>
                  <a:pt x="762617" y="503214"/>
                  <a:pt x="762617" y="376962"/>
                </a:cubicBezTo>
                <a:lnTo>
                  <a:pt x="762617" y="228600"/>
                </a:lnTo>
                <a:cubicBezTo>
                  <a:pt x="762617" y="102348"/>
                  <a:pt x="864965" y="0"/>
                  <a:pt x="991217" y="0"/>
                </a:cubicBezTo>
                <a:lnTo>
                  <a:pt x="1561011" y="0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6" id="56"/>
          <p:cNvSpPr/>
          <p:nvPr/>
        </p:nvSpPr>
        <p:spPr>
          <a:xfrm>
            <a:off x="11320381" y="7259240"/>
            <a:ext cx="1561011" cy="599400"/>
          </a:xfrm>
          <a:custGeom>
            <a:avLst/>
            <a:gdLst/>
            <a:ahLst/>
            <a:cxnLst/>
            <a:rect r="r" b="b" t="t" l="l"/>
            <a:pathLst>
              <a:path h="599400" w="1561011">
                <a:moveTo>
                  <a:pt x="0" y="599400"/>
                </a:moveTo>
                <a:lnTo>
                  <a:pt x="534017" y="599400"/>
                </a:lnTo>
                <a:cubicBezTo>
                  <a:pt x="594646" y="599400"/>
                  <a:pt x="652791" y="575315"/>
                  <a:pt x="695662" y="532444"/>
                </a:cubicBezTo>
                <a:cubicBezTo>
                  <a:pt x="738533" y="489574"/>
                  <a:pt x="762617" y="431429"/>
                  <a:pt x="762617" y="370800"/>
                </a:cubicBezTo>
                <a:lnTo>
                  <a:pt x="762617" y="228600"/>
                </a:lnTo>
                <a:cubicBezTo>
                  <a:pt x="762617" y="167971"/>
                  <a:pt x="786702" y="109826"/>
                  <a:pt x="829573" y="66955"/>
                </a:cubicBezTo>
                <a:cubicBezTo>
                  <a:pt x="872443" y="24084"/>
                  <a:pt x="930588" y="0"/>
                  <a:pt x="991217" y="0"/>
                </a:cubicBezTo>
                <a:lnTo>
                  <a:pt x="1561011" y="0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>
            <a:off x="11320381" y="5082991"/>
            <a:ext cx="1561011" cy="617886"/>
          </a:xfrm>
          <a:custGeom>
            <a:avLst/>
            <a:gdLst/>
            <a:ahLst/>
            <a:cxnLst/>
            <a:rect r="r" b="b" t="t" l="l"/>
            <a:pathLst>
              <a:path h="617886" w="1561011">
                <a:moveTo>
                  <a:pt x="0" y="0"/>
                </a:moveTo>
                <a:lnTo>
                  <a:pt x="534017" y="0"/>
                </a:lnTo>
                <a:cubicBezTo>
                  <a:pt x="660269" y="0"/>
                  <a:pt x="762617" y="102347"/>
                  <a:pt x="762617" y="228600"/>
                </a:cubicBezTo>
                <a:lnTo>
                  <a:pt x="762617" y="389286"/>
                </a:lnTo>
                <a:cubicBezTo>
                  <a:pt x="762617" y="515538"/>
                  <a:pt x="864965" y="617886"/>
                  <a:pt x="991217" y="617886"/>
                </a:cubicBezTo>
                <a:lnTo>
                  <a:pt x="1561011" y="617886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8" id="58"/>
          <p:cNvSpPr/>
          <p:nvPr/>
        </p:nvSpPr>
        <p:spPr>
          <a:xfrm>
            <a:off x="11320381" y="7858640"/>
            <a:ext cx="1561011" cy="624048"/>
          </a:xfrm>
          <a:custGeom>
            <a:avLst/>
            <a:gdLst/>
            <a:ahLst/>
            <a:cxnLst/>
            <a:rect r="r" b="b" t="t" l="l"/>
            <a:pathLst>
              <a:path h="624048" w="1561011">
                <a:moveTo>
                  <a:pt x="0" y="0"/>
                </a:moveTo>
                <a:lnTo>
                  <a:pt x="534017" y="0"/>
                </a:lnTo>
                <a:cubicBezTo>
                  <a:pt x="660269" y="0"/>
                  <a:pt x="762617" y="102348"/>
                  <a:pt x="762617" y="228600"/>
                </a:cubicBezTo>
                <a:lnTo>
                  <a:pt x="762617" y="395448"/>
                </a:lnTo>
                <a:cubicBezTo>
                  <a:pt x="762617" y="521700"/>
                  <a:pt x="864965" y="624048"/>
                  <a:pt x="991217" y="624048"/>
                </a:cubicBezTo>
                <a:lnTo>
                  <a:pt x="1561011" y="624048"/>
                </a:lnTo>
              </a:path>
            </a:pathLst>
          </a:custGeom>
          <a:ln cap="flat" w="38100">
            <a:solidFill>
              <a:srgbClr val="A9B4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6147008" y="1959539"/>
            <a:ext cx="695606" cy="695606"/>
          </a:xfrm>
          <a:custGeom>
            <a:avLst/>
            <a:gdLst/>
            <a:ahLst/>
            <a:cxnLst/>
            <a:rect r="r" b="b" t="t" l="l"/>
            <a:pathLst>
              <a:path h="695606" w="695606">
                <a:moveTo>
                  <a:pt x="0" y="0"/>
                </a:moveTo>
                <a:lnTo>
                  <a:pt x="695606" y="0"/>
                </a:lnTo>
                <a:lnTo>
                  <a:pt x="695606" y="695606"/>
                </a:lnTo>
                <a:lnTo>
                  <a:pt x="0" y="695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6165539" y="7529368"/>
            <a:ext cx="658543" cy="658543"/>
          </a:xfrm>
          <a:custGeom>
            <a:avLst/>
            <a:gdLst/>
            <a:ahLst/>
            <a:cxnLst/>
            <a:rect r="r" b="b" t="t" l="l"/>
            <a:pathLst>
              <a:path h="658543" w="658543">
                <a:moveTo>
                  <a:pt x="0" y="0"/>
                </a:moveTo>
                <a:lnTo>
                  <a:pt x="658544" y="0"/>
                </a:lnTo>
                <a:lnTo>
                  <a:pt x="658544" y="658543"/>
                </a:lnTo>
                <a:lnTo>
                  <a:pt x="0" y="6585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147008" y="4735187"/>
            <a:ext cx="695606" cy="695606"/>
          </a:xfrm>
          <a:custGeom>
            <a:avLst/>
            <a:gdLst/>
            <a:ahLst/>
            <a:cxnLst/>
            <a:rect r="r" b="b" t="t" l="l"/>
            <a:pathLst>
              <a:path h="695606" w="695606">
                <a:moveTo>
                  <a:pt x="0" y="0"/>
                </a:moveTo>
                <a:lnTo>
                  <a:pt x="695606" y="0"/>
                </a:lnTo>
                <a:lnTo>
                  <a:pt x="695606" y="695607"/>
                </a:lnTo>
                <a:lnTo>
                  <a:pt x="0" y="695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123950" y="3443444"/>
            <a:ext cx="3017624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C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omparison Decision Flow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23950" y="5546919"/>
            <a:ext cx="301762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Th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ree main routes guide feature selection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642964" y="2188847"/>
            <a:ext cx="3366572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Identify th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main goals and core purpose for using the product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642964" y="4941393"/>
            <a:ext cx="3366572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Pick th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option that best matches required features and expectations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642964" y="1805942"/>
            <a:ext cx="33665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Start Needs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642964" y="4558488"/>
            <a:ext cx="33665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Choose Path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642964" y="7642244"/>
            <a:ext cx="3366572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Finaliz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the decision by choosing the feature set with the strongest value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642964" y="7259339"/>
            <a:ext cx="336657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Confirm Pick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6513677" y="2408042"/>
            <a:ext cx="5260647" cy="10521294"/>
          </a:xfrm>
          <a:custGeom>
            <a:avLst/>
            <a:gdLst/>
            <a:ahLst/>
            <a:cxnLst/>
            <a:rect r="r" b="b" t="t" l="l"/>
            <a:pathLst>
              <a:path h="10521294" w="5260647">
                <a:moveTo>
                  <a:pt x="0" y="0"/>
                </a:moveTo>
                <a:lnTo>
                  <a:pt x="5260646" y="0"/>
                </a:lnTo>
                <a:lnTo>
                  <a:pt x="5260646" y="10521294"/>
                </a:lnTo>
                <a:lnTo>
                  <a:pt x="0" y="1052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04471" y="4766566"/>
            <a:ext cx="3803924" cy="753869"/>
          </a:xfrm>
          <a:custGeom>
            <a:avLst/>
            <a:gdLst/>
            <a:ahLst/>
            <a:cxnLst/>
            <a:rect r="r" b="b" t="t" l="l"/>
            <a:pathLst>
              <a:path h="753869" w="3803924">
                <a:moveTo>
                  <a:pt x="0" y="0"/>
                </a:moveTo>
                <a:lnTo>
                  <a:pt x="3803924" y="0"/>
                </a:lnTo>
                <a:lnTo>
                  <a:pt x="3803924" y="753868"/>
                </a:lnTo>
                <a:lnTo>
                  <a:pt x="0" y="753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04471" y="3242566"/>
            <a:ext cx="3803924" cy="2095141"/>
            <a:chOff x="0" y="0"/>
            <a:chExt cx="1001857" cy="5518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1857" cy="551807"/>
            </a:xfrm>
            <a:custGeom>
              <a:avLst/>
              <a:gdLst/>
              <a:ahLst/>
              <a:cxnLst/>
              <a:rect r="r" b="b" t="t" l="l"/>
              <a:pathLst>
                <a:path h="551807" w="1001857">
                  <a:moveTo>
                    <a:pt x="48846" y="0"/>
                  </a:moveTo>
                  <a:lnTo>
                    <a:pt x="953011" y="0"/>
                  </a:lnTo>
                  <a:cubicBezTo>
                    <a:pt x="979988" y="0"/>
                    <a:pt x="1001857" y="21869"/>
                    <a:pt x="1001857" y="48846"/>
                  </a:cubicBezTo>
                  <a:lnTo>
                    <a:pt x="1001857" y="502961"/>
                  </a:lnTo>
                  <a:cubicBezTo>
                    <a:pt x="1001857" y="515915"/>
                    <a:pt x="996710" y="528340"/>
                    <a:pt x="987550" y="537500"/>
                  </a:cubicBezTo>
                  <a:cubicBezTo>
                    <a:pt x="978390" y="546660"/>
                    <a:pt x="965965" y="551807"/>
                    <a:pt x="953011" y="551807"/>
                  </a:cubicBezTo>
                  <a:lnTo>
                    <a:pt x="48846" y="551807"/>
                  </a:lnTo>
                  <a:cubicBezTo>
                    <a:pt x="21869" y="551807"/>
                    <a:pt x="0" y="529938"/>
                    <a:pt x="0" y="502961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01857" cy="589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242038" y="4766566"/>
            <a:ext cx="3803924" cy="753869"/>
          </a:xfrm>
          <a:custGeom>
            <a:avLst/>
            <a:gdLst/>
            <a:ahLst/>
            <a:cxnLst/>
            <a:rect r="r" b="b" t="t" l="l"/>
            <a:pathLst>
              <a:path h="753869" w="3803924">
                <a:moveTo>
                  <a:pt x="0" y="0"/>
                </a:moveTo>
                <a:lnTo>
                  <a:pt x="3803924" y="0"/>
                </a:lnTo>
                <a:lnTo>
                  <a:pt x="3803924" y="753868"/>
                </a:lnTo>
                <a:lnTo>
                  <a:pt x="0" y="753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242038" y="3242566"/>
            <a:ext cx="3803924" cy="2095141"/>
            <a:chOff x="0" y="0"/>
            <a:chExt cx="1001857" cy="5518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1857" cy="551807"/>
            </a:xfrm>
            <a:custGeom>
              <a:avLst/>
              <a:gdLst/>
              <a:ahLst/>
              <a:cxnLst/>
              <a:rect r="r" b="b" t="t" l="l"/>
              <a:pathLst>
                <a:path h="551807" w="1001857">
                  <a:moveTo>
                    <a:pt x="48846" y="0"/>
                  </a:moveTo>
                  <a:lnTo>
                    <a:pt x="953011" y="0"/>
                  </a:lnTo>
                  <a:cubicBezTo>
                    <a:pt x="979988" y="0"/>
                    <a:pt x="1001857" y="21869"/>
                    <a:pt x="1001857" y="48846"/>
                  </a:cubicBezTo>
                  <a:lnTo>
                    <a:pt x="1001857" y="502961"/>
                  </a:lnTo>
                  <a:cubicBezTo>
                    <a:pt x="1001857" y="515915"/>
                    <a:pt x="996710" y="528340"/>
                    <a:pt x="987550" y="537500"/>
                  </a:cubicBezTo>
                  <a:cubicBezTo>
                    <a:pt x="978390" y="546660"/>
                    <a:pt x="965965" y="551807"/>
                    <a:pt x="953011" y="551807"/>
                  </a:cubicBezTo>
                  <a:lnTo>
                    <a:pt x="48846" y="551807"/>
                  </a:lnTo>
                  <a:cubicBezTo>
                    <a:pt x="21869" y="551807"/>
                    <a:pt x="0" y="529938"/>
                    <a:pt x="0" y="502961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01857" cy="589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01900" y="7810500"/>
            <a:ext cx="3803924" cy="753869"/>
          </a:xfrm>
          <a:custGeom>
            <a:avLst/>
            <a:gdLst/>
            <a:ahLst/>
            <a:cxnLst/>
            <a:rect r="r" b="b" t="t" l="l"/>
            <a:pathLst>
              <a:path h="753869" w="3803924">
                <a:moveTo>
                  <a:pt x="0" y="0"/>
                </a:moveTo>
                <a:lnTo>
                  <a:pt x="3803924" y="0"/>
                </a:lnTo>
                <a:lnTo>
                  <a:pt x="3803924" y="753869"/>
                </a:lnTo>
                <a:lnTo>
                  <a:pt x="0" y="75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1900" y="6286500"/>
            <a:ext cx="3803924" cy="2095141"/>
            <a:chOff x="0" y="0"/>
            <a:chExt cx="1001857" cy="5518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1857" cy="551807"/>
            </a:xfrm>
            <a:custGeom>
              <a:avLst/>
              <a:gdLst/>
              <a:ahLst/>
              <a:cxnLst/>
              <a:rect r="r" b="b" t="t" l="l"/>
              <a:pathLst>
                <a:path h="551807" w="1001857">
                  <a:moveTo>
                    <a:pt x="48846" y="0"/>
                  </a:moveTo>
                  <a:lnTo>
                    <a:pt x="953011" y="0"/>
                  </a:lnTo>
                  <a:cubicBezTo>
                    <a:pt x="979988" y="0"/>
                    <a:pt x="1001857" y="21869"/>
                    <a:pt x="1001857" y="48846"/>
                  </a:cubicBezTo>
                  <a:lnTo>
                    <a:pt x="1001857" y="502961"/>
                  </a:lnTo>
                  <a:cubicBezTo>
                    <a:pt x="1001857" y="515915"/>
                    <a:pt x="996710" y="528340"/>
                    <a:pt x="987550" y="537500"/>
                  </a:cubicBezTo>
                  <a:cubicBezTo>
                    <a:pt x="978390" y="546660"/>
                    <a:pt x="965965" y="551807"/>
                    <a:pt x="953011" y="551807"/>
                  </a:cubicBezTo>
                  <a:lnTo>
                    <a:pt x="48846" y="551807"/>
                  </a:lnTo>
                  <a:cubicBezTo>
                    <a:pt x="21869" y="551807"/>
                    <a:pt x="0" y="529938"/>
                    <a:pt x="0" y="502961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01857" cy="589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882176" y="7810500"/>
            <a:ext cx="3803924" cy="753869"/>
          </a:xfrm>
          <a:custGeom>
            <a:avLst/>
            <a:gdLst/>
            <a:ahLst/>
            <a:cxnLst/>
            <a:rect r="r" b="b" t="t" l="l"/>
            <a:pathLst>
              <a:path h="753869" w="3803924">
                <a:moveTo>
                  <a:pt x="0" y="0"/>
                </a:moveTo>
                <a:lnTo>
                  <a:pt x="3803924" y="0"/>
                </a:lnTo>
                <a:lnTo>
                  <a:pt x="3803924" y="753869"/>
                </a:lnTo>
                <a:lnTo>
                  <a:pt x="0" y="753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882176" y="6286500"/>
            <a:ext cx="3803924" cy="2095141"/>
            <a:chOff x="0" y="0"/>
            <a:chExt cx="1001857" cy="5518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1857" cy="551807"/>
            </a:xfrm>
            <a:custGeom>
              <a:avLst/>
              <a:gdLst/>
              <a:ahLst/>
              <a:cxnLst/>
              <a:rect r="r" b="b" t="t" l="l"/>
              <a:pathLst>
                <a:path h="551807" w="1001857">
                  <a:moveTo>
                    <a:pt x="48846" y="0"/>
                  </a:moveTo>
                  <a:lnTo>
                    <a:pt x="953011" y="0"/>
                  </a:lnTo>
                  <a:cubicBezTo>
                    <a:pt x="979988" y="0"/>
                    <a:pt x="1001857" y="21869"/>
                    <a:pt x="1001857" y="48846"/>
                  </a:cubicBezTo>
                  <a:lnTo>
                    <a:pt x="1001857" y="502961"/>
                  </a:lnTo>
                  <a:cubicBezTo>
                    <a:pt x="1001857" y="515915"/>
                    <a:pt x="996710" y="528340"/>
                    <a:pt x="987550" y="537500"/>
                  </a:cubicBezTo>
                  <a:cubicBezTo>
                    <a:pt x="978390" y="546660"/>
                    <a:pt x="965965" y="551807"/>
                    <a:pt x="953011" y="551807"/>
                  </a:cubicBezTo>
                  <a:lnTo>
                    <a:pt x="48846" y="551807"/>
                  </a:lnTo>
                  <a:cubicBezTo>
                    <a:pt x="21869" y="551807"/>
                    <a:pt x="0" y="529938"/>
                    <a:pt x="0" y="502961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01857" cy="589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079605" y="4766566"/>
            <a:ext cx="3803924" cy="753869"/>
          </a:xfrm>
          <a:custGeom>
            <a:avLst/>
            <a:gdLst/>
            <a:ahLst/>
            <a:cxnLst/>
            <a:rect r="r" b="b" t="t" l="l"/>
            <a:pathLst>
              <a:path h="753869" w="3803924">
                <a:moveTo>
                  <a:pt x="0" y="0"/>
                </a:moveTo>
                <a:lnTo>
                  <a:pt x="3803924" y="0"/>
                </a:lnTo>
                <a:lnTo>
                  <a:pt x="3803924" y="753868"/>
                </a:lnTo>
                <a:lnTo>
                  <a:pt x="0" y="753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079605" y="3242566"/>
            <a:ext cx="3803924" cy="2095141"/>
            <a:chOff x="0" y="0"/>
            <a:chExt cx="1001857" cy="5518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1857" cy="551807"/>
            </a:xfrm>
            <a:custGeom>
              <a:avLst/>
              <a:gdLst/>
              <a:ahLst/>
              <a:cxnLst/>
              <a:rect r="r" b="b" t="t" l="l"/>
              <a:pathLst>
                <a:path h="551807" w="1001857">
                  <a:moveTo>
                    <a:pt x="48846" y="0"/>
                  </a:moveTo>
                  <a:lnTo>
                    <a:pt x="953011" y="0"/>
                  </a:lnTo>
                  <a:cubicBezTo>
                    <a:pt x="979988" y="0"/>
                    <a:pt x="1001857" y="21869"/>
                    <a:pt x="1001857" y="48846"/>
                  </a:cubicBezTo>
                  <a:lnTo>
                    <a:pt x="1001857" y="502961"/>
                  </a:lnTo>
                  <a:cubicBezTo>
                    <a:pt x="1001857" y="515915"/>
                    <a:pt x="996710" y="528340"/>
                    <a:pt x="987550" y="537500"/>
                  </a:cubicBezTo>
                  <a:cubicBezTo>
                    <a:pt x="978390" y="546660"/>
                    <a:pt x="965965" y="551807"/>
                    <a:pt x="953011" y="551807"/>
                  </a:cubicBezTo>
                  <a:lnTo>
                    <a:pt x="48846" y="551807"/>
                  </a:lnTo>
                  <a:cubicBezTo>
                    <a:pt x="21869" y="551807"/>
                    <a:pt x="0" y="529938"/>
                    <a:pt x="0" y="502961"/>
                  </a:cubicBezTo>
                  <a:lnTo>
                    <a:pt x="0" y="48846"/>
                  </a:lnTo>
                  <a:cubicBezTo>
                    <a:pt x="0" y="21869"/>
                    <a:pt x="21869" y="0"/>
                    <a:pt x="488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01857" cy="589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60812" y="6188953"/>
            <a:ext cx="3086100" cy="195093"/>
            <a:chOff x="0" y="0"/>
            <a:chExt cx="812800" cy="513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053312" y="981075"/>
            <a:ext cx="10181376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C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ore Feature Factors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53312" y="1738590"/>
            <a:ext cx="101813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Fiv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 main factors influence product feature comparison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26380" y="4000743"/>
            <a:ext cx="296010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Ev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aluate how simple and practical the feature is for everyday use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43567" y="3629928"/>
            <a:ext cx="312573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Ease Use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63947" y="4000743"/>
            <a:ext cx="296010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Ass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ess how well the feature integrates with product layout and style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81133" y="3629928"/>
            <a:ext cx="312573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Design Fit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23809" y="7120878"/>
            <a:ext cx="296010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easure how effectively each feature performs its intended purpose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40995" y="6750062"/>
            <a:ext cx="312573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Functionality Check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04085" y="7120878"/>
            <a:ext cx="296010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eview customer experiences to validate real-world feature performance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21272" y="6750062"/>
            <a:ext cx="312573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User Feedback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01514" y="4000743"/>
            <a:ext cx="296010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1599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onsider whether the feature provides value relative to its price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18700" y="3629928"/>
            <a:ext cx="3125733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Cost Value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763383" y="3145019"/>
            <a:ext cx="3086100" cy="195093"/>
            <a:chOff x="0" y="0"/>
            <a:chExt cx="812800" cy="513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3D629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00950" y="3145019"/>
            <a:ext cx="3086100" cy="195093"/>
            <a:chOff x="0" y="0"/>
            <a:chExt cx="812800" cy="513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38517" y="3145019"/>
            <a:ext cx="3086100" cy="195093"/>
            <a:chOff x="0" y="0"/>
            <a:chExt cx="812800" cy="513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F68D54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241088" y="6188953"/>
            <a:ext cx="3086100" cy="195093"/>
            <a:chOff x="0" y="0"/>
            <a:chExt cx="812800" cy="513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51383"/>
            </a:xfrm>
            <a:custGeom>
              <a:avLst/>
              <a:gdLst/>
              <a:ahLst/>
              <a:cxnLst/>
              <a:rect r="r" b="b" t="t" l="l"/>
              <a:pathLst>
                <a:path h="51383" w="812800">
                  <a:moveTo>
                    <a:pt x="25691" y="0"/>
                  </a:moveTo>
                  <a:lnTo>
                    <a:pt x="787109" y="0"/>
                  </a:lnTo>
                  <a:cubicBezTo>
                    <a:pt x="801298" y="0"/>
                    <a:pt x="812800" y="11502"/>
                    <a:pt x="812800" y="25691"/>
                  </a:cubicBezTo>
                  <a:lnTo>
                    <a:pt x="812800" y="25691"/>
                  </a:lnTo>
                  <a:cubicBezTo>
                    <a:pt x="812800" y="32505"/>
                    <a:pt x="810093" y="39040"/>
                    <a:pt x="805275" y="43858"/>
                  </a:cubicBezTo>
                  <a:cubicBezTo>
                    <a:pt x="800457" y="48676"/>
                    <a:pt x="793922" y="51383"/>
                    <a:pt x="787109" y="51383"/>
                  </a:cubicBezTo>
                  <a:lnTo>
                    <a:pt x="25691" y="51383"/>
                  </a:lnTo>
                  <a:cubicBezTo>
                    <a:pt x="11502" y="51383"/>
                    <a:pt x="0" y="39880"/>
                    <a:pt x="0" y="25691"/>
                  </a:cubicBezTo>
                  <a:lnTo>
                    <a:pt x="0" y="25691"/>
                  </a:lnTo>
                  <a:cubicBezTo>
                    <a:pt x="0" y="11502"/>
                    <a:pt x="11502" y="0"/>
                    <a:pt x="25691" y="0"/>
                  </a:cubicBezTo>
                  <a:close/>
                </a:path>
              </a:pathLst>
            </a:custGeom>
            <a:solidFill>
              <a:srgbClr val="E8DED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12800" cy="89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129512" y="9640694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91819" y="8913495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02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947370" y="7839075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307672" y="6764655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763223" y="5880735"/>
            <a:ext cx="1433154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>
                <a:solidFill>
                  <a:srgbClr val="122359"/>
                </a:solidFill>
                <a:latin typeface="TT Fors Bold"/>
                <a:ea typeface="TT Fors Bold"/>
                <a:cs typeface="TT Fors Bold"/>
                <a:sym typeface="TT Fors Bold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C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606850" y="2709754"/>
          <a:ext cx="15074299" cy="6746727"/>
        </p:xfrm>
        <a:graphic>
          <a:graphicData uri="http://schemas.openxmlformats.org/drawingml/2006/table">
            <a:tbl>
              <a:tblPr/>
              <a:tblGrid>
                <a:gridCol w="3768575"/>
                <a:gridCol w="3768575"/>
                <a:gridCol w="3768575"/>
                <a:gridCol w="3768575"/>
              </a:tblGrid>
              <a:tr h="18470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46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Option A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Reliable speed with stable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function in daily use</a:t>
                      </a:r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Simple layout that is clear and practical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Strong support with quick resource access.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46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Option B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High performance though less stable in demanding cases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Flexible design offering multiple customization choices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Basic support with limited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available guidance</a:t>
                      </a:r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46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Option C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Moderate performance suited for standard activities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Minimal design focused on ease and clarity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Average support with standard resources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46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T Fors Bold"/>
                          <a:ea typeface="TT Fors Bold"/>
                          <a:cs typeface="TT Fors Bold"/>
                          <a:sym typeface="TT Fors Bold"/>
                        </a:rPr>
                        <a:t>Option D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Advanced performance with premium stability and detail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Detailed design built for professional-level use</a:t>
                      </a: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Extended support with</a:t>
                      </a:r>
                      <a:endParaRPr lang="en-US" sz="1100"/>
                    </a:p>
                    <a:p>
                      <a:pPr algn="ctr">
                        <a:lnSpc>
                          <a:spcPts val="2239"/>
                        </a:lnSpc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T Fors"/>
                          <a:ea typeface="TT Fors"/>
                          <a:cs typeface="TT Fors"/>
                          <a:sym typeface="TT Fors"/>
                        </a:rPr>
                        <a:t>dedicated services</a:t>
                      </a:r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210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6"/>
                        </a:lnSpc>
                        <a:defRPr/>
                      </a:pPr>
                      <a:endParaRPr lang="en-US" sz="1100"/>
                    </a:p>
                  </a:txBody>
                  <a:tcPr marL="184173" marR="184173" marT="184173" marB="184173" anchor="ctr">
                    <a:lnL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7626">
                      <a:solidFill>
                        <a:srgbClr val="BEC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883573" y="2575854"/>
            <a:ext cx="3250506" cy="1733550"/>
            <a:chOff x="0" y="0"/>
            <a:chExt cx="856100" cy="4565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100" cy="456573"/>
            </a:xfrm>
            <a:custGeom>
              <a:avLst/>
              <a:gdLst/>
              <a:ahLst/>
              <a:cxnLst/>
              <a:rect r="r" b="b" t="t" l="l"/>
              <a:pathLst>
                <a:path h="456573" w="856100">
                  <a:moveTo>
                    <a:pt x="856100" y="0"/>
                  </a:moveTo>
                  <a:lnTo>
                    <a:pt x="856100" y="342273"/>
                  </a:lnTo>
                  <a:lnTo>
                    <a:pt x="428050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56100" y="0"/>
                  </a:ln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56100" cy="380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04146" y="2575854"/>
            <a:ext cx="3296390" cy="1733550"/>
            <a:chOff x="0" y="0"/>
            <a:chExt cx="868185" cy="4565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8185" cy="456573"/>
            </a:xfrm>
            <a:custGeom>
              <a:avLst/>
              <a:gdLst/>
              <a:ahLst/>
              <a:cxnLst/>
              <a:rect r="r" b="b" t="t" l="l"/>
              <a:pathLst>
                <a:path h="456573" w="868185">
                  <a:moveTo>
                    <a:pt x="868185" y="0"/>
                  </a:moveTo>
                  <a:lnTo>
                    <a:pt x="868185" y="342273"/>
                  </a:lnTo>
                  <a:lnTo>
                    <a:pt x="434092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68185" y="0"/>
                  </a:ln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8185" cy="380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70603" y="2575854"/>
            <a:ext cx="3296390" cy="1733550"/>
            <a:chOff x="0" y="0"/>
            <a:chExt cx="868185" cy="4565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8185" cy="456573"/>
            </a:xfrm>
            <a:custGeom>
              <a:avLst/>
              <a:gdLst/>
              <a:ahLst/>
              <a:cxnLst/>
              <a:rect r="r" b="b" t="t" l="l"/>
              <a:pathLst>
                <a:path h="456573" w="868185">
                  <a:moveTo>
                    <a:pt x="868185" y="0"/>
                  </a:moveTo>
                  <a:lnTo>
                    <a:pt x="868185" y="342273"/>
                  </a:lnTo>
                  <a:lnTo>
                    <a:pt x="434092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68185" y="0"/>
                  </a:ln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8185" cy="380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31378" y="2575854"/>
            <a:ext cx="3296390" cy="1733550"/>
            <a:chOff x="0" y="0"/>
            <a:chExt cx="868185" cy="4565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8185" cy="456573"/>
            </a:xfrm>
            <a:custGeom>
              <a:avLst/>
              <a:gdLst/>
              <a:ahLst/>
              <a:cxnLst/>
              <a:rect r="r" b="b" t="t" l="l"/>
              <a:pathLst>
                <a:path h="456573" w="868185">
                  <a:moveTo>
                    <a:pt x="868185" y="0"/>
                  </a:moveTo>
                  <a:lnTo>
                    <a:pt x="868185" y="342273"/>
                  </a:lnTo>
                  <a:lnTo>
                    <a:pt x="434092" y="456573"/>
                  </a:lnTo>
                  <a:lnTo>
                    <a:pt x="0" y="342273"/>
                  </a:lnTo>
                  <a:lnTo>
                    <a:pt x="0" y="0"/>
                  </a:lnTo>
                  <a:lnTo>
                    <a:pt x="868185" y="0"/>
                  </a:ln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68185" cy="380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34451" y="8757426"/>
            <a:ext cx="2548749" cy="463676"/>
            <a:chOff x="0" y="0"/>
            <a:chExt cx="1095521" cy="1993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5522" cy="199301"/>
            </a:xfrm>
            <a:custGeom>
              <a:avLst/>
              <a:gdLst/>
              <a:ahLst/>
              <a:cxnLst/>
              <a:rect r="r" b="b" t="t" l="l"/>
              <a:pathLst>
                <a:path h="199301" w="1095522">
                  <a:moveTo>
                    <a:pt x="99650" y="0"/>
                  </a:moveTo>
                  <a:lnTo>
                    <a:pt x="995871" y="0"/>
                  </a:lnTo>
                  <a:cubicBezTo>
                    <a:pt x="1050907" y="0"/>
                    <a:pt x="1095522" y="44615"/>
                    <a:pt x="1095522" y="99650"/>
                  </a:cubicBezTo>
                  <a:lnTo>
                    <a:pt x="1095522" y="99650"/>
                  </a:lnTo>
                  <a:cubicBezTo>
                    <a:pt x="1095522" y="126079"/>
                    <a:pt x="1085023" y="151426"/>
                    <a:pt x="1066335" y="170114"/>
                  </a:cubicBezTo>
                  <a:cubicBezTo>
                    <a:pt x="1047647" y="188802"/>
                    <a:pt x="1022300" y="199301"/>
                    <a:pt x="995871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1223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5521" cy="237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Key S</a:t>
              </a:r>
              <a:r>
                <a:rPr lang="en-US" b="true" sz="1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</a:t>
              </a:r>
              <a:r>
                <a:rPr lang="en-US" b="true" sz="1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</a:t>
              </a:r>
              <a:r>
                <a:rPr lang="en-US" b="true" sz="1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</a:t>
              </a:r>
              <a:r>
                <a:rPr lang="en-US" b="true" sz="1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ngths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77966" y="8757426"/>
            <a:ext cx="2548749" cy="463676"/>
            <a:chOff x="0" y="0"/>
            <a:chExt cx="1095521" cy="199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5522" cy="199301"/>
            </a:xfrm>
            <a:custGeom>
              <a:avLst/>
              <a:gdLst/>
              <a:ahLst/>
              <a:cxnLst/>
              <a:rect r="r" b="b" t="t" l="l"/>
              <a:pathLst>
                <a:path h="199301" w="1095522">
                  <a:moveTo>
                    <a:pt x="99650" y="0"/>
                  </a:moveTo>
                  <a:lnTo>
                    <a:pt x="995871" y="0"/>
                  </a:lnTo>
                  <a:cubicBezTo>
                    <a:pt x="1050907" y="0"/>
                    <a:pt x="1095522" y="44615"/>
                    <a:pt x="1095522" y="99650"/>
                  </a:cubicBezTo>
                  <a:lnTo>
                    <a:pt x="1095522" y="99650"/>
                  </a:lnTo>
                  <a:cubicBezTo>
                    <a:pt x="1095522" y="126079"/>
                    <a:pt x="1085023" y="151426"/>
                    <a:pt x="1066335" y="170114"/>
                  </a:cubicBezTo>
                  <a:cubicBezTo>
                    <a:pt x="1047647" y="188802"/>
                    <a:pt x="1022300" y="199301"/>
                    <a:pt x="995871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3E63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5521" cy="237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Main Lim</a:t>
              </a:r>
              <a:r>
                <a:rPr lang="en-US" b="true" sz="1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it</a:t>
              </a:r>
              <a:r>
                <a:rPr lang="en-US" b="true" sz="1600" strike="noStrike" u="non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21482" y="8757426"/>
            <a:ext cx="2548749" cy="463676"/>
            <a:chOff x="0" y="0"/>
            <a:chExt cx="1095521" cy="1993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5522" cy="199301"/>
            </a:xfrm>
            <a:custGeom>
              <a:avLst/>
              <a:gdLst/>
              <a:ahLst/>
              <a:cxnLst/>
              <a:rect r="r" b="b" t="t" l="l"/>
              <a:pathLst>
                <a:path h="199301" w="1095522">
                  <a:moveTo>
                    <a:pt x="99650" y="0"/>
                  </a:moveTo>
                  <a:lnTo>
                    <a:pt x="995871" y="0"/>
                  </a:lnTo>
                  <a:cubicBezTo>
                    <a:pt x="1050907" y="0"/>
                    <a:pt x="1095522" y="44615"/>
                    <a:pt x="1095522" y="99650"/>
                  </a:cubicBezTo>
                  <a:lnTo>
                    <a:pt x="1095522" y="99650"/>
                  </a:lnTo>
                  <a:cubicBezTo>
                    <a:pt x="1095522" y="126079"/>
                    <a:pt x="1085023" y="151426"/>
                    <a:pt x="1066335" y="170114"/>
                  </a:cubicBezTo>
                  <a:cubicBezTo>
                    <a:pt x="1047647" y="188802"/>
                    <a:pt x="1022300" y="199301"/>
                    <a:pt x="995871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BEC8D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5521" cy="237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Cos</a:t>
              </a:r>
              <a:r>
                <a:rPr lang="en-US" b="true" sz="16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 </a:t>
              </a:r>
              <a:r>
                <a:rPr lang="en-US" b="true" sz="16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Level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464997" y="8757426"/>
            <a:ext cx="2548749" cy="463676"/>
            <a:chOff x="0" y="0"/>
            <a:chExt cx="1095521" cy="1993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5522" cy="199301"/>
            </a:xfrm>
            <a:custGeom>
              <a:avLst/>
              <a:gdLst/>
              <a:ahLst/>
              <a:cxnLst/>
              <a:rect r="r" b="b" t="t" l="l"/>
              <a:pathLst>
                <a:path h="199301" w="1095522">
                  <a:moveTo>
                    <a:pt x="99650" y="0"/>
                  </a:moveTo>
                  <a:lnTo>
                    <a:pt x="995871" y="0"/>
                  </a:lnTo>
                  <a:cubicBezTo>
                    <a:pt x="1050907" y="0"/>
                    <a:pt x="1095522" y="44615"/>
                    <a:pt x="1095522" y="99650"/>
                  </a:cubicBezTo>
                  <a:lnTo>
                    <a:pt x="1095522" y="99650"/>
                  </a:lnTo>
                  <a:cubicBezTo>
                    <a:pt x="1095522" y="126079"/>
                    <a:pt x="1085023" y="151426"/>
                    <a:pt x="1066335" y="170114"/>
                  </a:cubicBezTo>
                  <a:cubicBezTo>
                    <a:pt x="1047647" y="188802"/>
                    <a:pt x="1022300" y="199301"/>
                    <a:pt x="995871" y="199301"/>
                  </a:cubicBezTo>
                  <a:lnTo>
                    <a:pt x="99650" y="199301"/>
                  </a:lnTo>
                  <a:cubicBezTo>
                    <a:pt x="73221" y="199301"/>
                    <a:pt x="47875" y="188802"/>
                    <a:pt x="29187" y="170114"/>
                  </a:cubicBezTo>
                  <a:cubicBezTo>
                    <a:pt x="10499" y="151426"/>
                    <a:pt x="0" y="126079"/>
                    <a:pt x="0" y="99650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F68D5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5521" cy="237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Us</a:t>
              </a:r>
              <a:r>
                <a:rPr lang="en-US" b="true" sz="16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</a:t>
              </a:r>
              <a:r>
                <a:rPr lang="en-US" b="true" sz="16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</a:t>
              </a:r>
              <a:r>
                <a:rPr lang="en-US" b="true" sz="16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 </a:t>
              </a:r>
              <a:r>
                <a:rPr lang="en-US" b="true" sz="1600" strike="noStrike" u="non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Support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0684110" y="3030658"/>
            <a:ext cx="669376" cy="481951"/>
          </a:xfrm>
          <a:custGeom>
            <a:avLst/>
            <a:gdLst/>
            <a:ahLst/>
            <a:cxnLst/>
            <a:rect r="r" b="b" t="t" l="l"/>
            <a:pathLst>
              <a:path h="481951" w="669376">
                <a:moveTo>
                  <a:pt x="0" y="0"/>
                </a:moveTo>
                <a:lnTo>
                  <a:pt x="669376" y="0"/>
                </a:lnTo>
                <a:lnTo>
                  <a:pt x="669376" y="481951"/>
                </a:lnTo>
                <a:lnTo>
                  <a:pt x="0" y="481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414845" y="2906906"/>
            <a:ext cx="729456" cy="729456"/>
          </a:xfrm>
          <a:custGeom>
            <a:avLst/>
            <a:gdLst/>
            <a:ahLst/>
            <a:cxnLst/>
            <a:rect r="r" b="b" t="t" l="l"/>
            <a:pathLst>
              <a:path h="729456" w="729456">
                <a:moveTo>
                  <a:pt x="0" y="0"/>
                </a:moveTo>
                <a:lnTo>
                  <a:pt x="729456" y="0"/>
                </a:lnTo>
                <a:lnTo>
                  <a:pt x="729456" y="729456"/>
                </a:lnTo>
                <a:lnTo>
                  <a:pt x="0" y="7294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194681" y="2957488"/>
            <a:ext cx="628291" cy="628291"/>
          </a:xfrm>
          <a:custGeom>
            <a:avLst/>
            <a:gdLst/>
            <a:ahLst/>
            <a:cxnLst/>
            <a:rect r="r" b="b" t="t" l="l"/>
            <a:pathLst>
              <a:path h="628291" w="628291">
                <a:moveTo>
                  <a:pt x="0" y="0"/>
                </a:moveTo>
                <a:lnTo>
                  <a:pt x="628290" y="0"/>
                </a:lnTo>
                <a:lnTo>
                  <a:pt x="628290" y="628291"/>
                </a:lnTo>
                <a:lnTo>
                  <a:pt x="0" y="6282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973985" y="2955897"/>
            <a:ext cx="556712" cy="556712"/>
          </a:xfrm>
          <a:custGeom>
            <a:avLst/>
            <a:gdLst/>
            <a:ahLst/>
            <a:cxnLst/>
            <a:rect r="r" b="b" t="t" l="l"/>
            <a:pathLst>
              <a:path h="556712" w="556712">
                <a:moveTo>
                  <a:pt x="0" y="0"/>
                </a:moveTo>
                <a:lnTo>
                  <a:pt x="556712" y="0"/>
                </a:lnTo>
                <a:lnTo>
                  <a:pt x="556712" y="556712"/>
                </a:lnTo>
                <a:lnTo>
                  <a:pt x="0" y="5567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033605" y="981075"/>
            <a:ext cx="14220789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Featu</a:t>
            </a:r>
            <a:r>
              <a:rPr lang="en-US" b="true" sz="3600">
                <a:solidFill>
                  <a:srgbClr val="112F8D"/>
                </a:solidFill>
                <a:latin typeface="TT Fors Bold"/>
                <a:ea typeface="TT Fors Bold"/>
                <a:cs typeface="TT Fors Bold"/>
                <a:sym typeface="TT Fors Bold"/>
              </a:rPr>
              <a:t>re Comparison Grid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33605" y="1738590"/>
            <a:ext cx="1422078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100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ompare four categories across five key aspects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38666" y="3636362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</a:t>
            </a:r>
            <a:r>
              <a:rPr lang="en-US" b="true" sz="17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erformance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95151" y="3636362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Category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05123" y="3636362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Design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65899" y="3636362"/>
            <a:ext cx="32273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000000"/>
                </a:solidFill>
                <a:latin typeface="TT Fors Bold"/>
                <a:ea typeface="TT Fors Bold"/>
                <a:cs typeface="TT Fors Bold"/>
                <a:sym typeface="TT Fors Bold"/>
              </a:rPr>
              <a:t>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DAHWvx-CJZs</dc:identifier>
  <dcterms:modified xsi:type="dcterms:W3CDTF">2011-08-01T06:04:30Z</dcterms:modified>
  <cp:revision>1</cp:revision>
  <dc:title>Modern Product Feature Comparison Infographic Presentation</dc:title>
</cp:coreProperties>
</file>